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E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80" r:id="rId2"/>
    <p:sldId id="281" r:id="rId3"/>
    <p:sldId id="2147480565" r:id="rId4"/>
    <p:sldId id="256" r:id="rId5"/>
    <p:sldId id="257" r:id="rId6"/>
    <p:sldId id="258" r:id="rId7"/>
    <p:sldId id="2147480566" r:id="rId8"/>
    <p:sldId id="259" r:id="rId9"/>
    <p:sldId id="260" r:id="rId10"/>
    <p:sldId id="261" r:id="rId11"/>
    <p:sldId id="262" r:id="rId12"/>
    <p:sldId id="2147480562" r:id="rId13"/>
    <p:sldId id="264" r:id="rId14"/>
    <p:sldId id="2147480563" r:id="rId15"/>
    <p:sldId id="2147480564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DE324D-9840-88BF-C3E9-6AAF37EFFAF7}" name="Maribel  Alvear Gomez" initials="MA" userId="S::maribel.alvear@avianca.com::4b54fbc7-23cc-45e3-8bd2-82529e36e34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F3FDC0-3F88-A2A8-BD1C-904E0DE2B27B}" v="39" dt="2026-03-06T23:24:30.4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576" y="5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Pereira" userId="S::fabio.pereira3@concentrix.com::0d949fc7-1943-4dd3-886a-3023b9f24e90" providerId="AD" clId="Web-{63F3FDC0-3F88-A2A8-BD1C-904E0DE2B27B}"/>
    <pc:docChg chg="modSld">
      <pc:chgData name="Fabio Pereira" userId="S::fabio.pereira3@concentrix.com::0d949fc7-1943-4dd3-886a-3023b9f24e90" providerId="AD" clId="Web-{63F3FDC0-3F88-A2A8-BD1C-904E0DE2B27B}" dt="2026-03-06T23:24:30.428" v="25"/>
      <pc:docMkLst>
        <pc:docMk/>
      </pc:docMkLst>
      <pc:sldChg chg="addSp delSp modSp">
        <pc:chgData name="Fabio Pereira" userId="S::fabio.pereira3@concentrix.com::0d949fc7-1943-4dd3-886a-3023b9f24e90" providerId="AD" clId="Web-{63F3FDC0-3F88-A2A8-BD1C-904E0DE2B27B}" dt="2026-03-06T23:23:08.568" v="6" actId="1076"/>
        <pc:sldMkLst>
          <pc:docMk/>
          <pc:sldMk cId="0" sldId="272"/>
        </pc:sldMkLst>
        <pc:graphicFrameChg chg="del">
          <ac:chgData name="Fabio Pereira" userId="S::fabio.pereira3@concentrix.com::0d949fc7-1943-4dd3-886a-3023b9f24e90" providerId="AD" clId="Web-{63F3FDC0-3F88-A2A8-BD1C-904E0DE2B27B}" dt="2026-03-06T23:22:14.192" v="0"/>
          <ac:graphicFrameMkLst>
            <pc:docMk/>
            <pc:sldMk cId="0" sldId="272"/>
            <ac:graphicFrameMk id="3" creationId="{00000000-0000-0000-0000-000000000000}"/>
          </ac:graphicFrameMkLst>
        </pc:graphicFrameChg>
        <pc:graphicFrameChg chg="add del mod modGraphic">
          <ac:chgData name="Fabio Pereira" userId="S::fabio.pereira3@concentrix.com::0d949fc7-1943-4dd3-886a-3023b9f24e90" providerId="AD" clId="Web-{63F3FDC0-3F88-A2A8-BD1C-904E0DE2B27B}" dt="2026-03-06T23:23:08.568" v="6" actId="1076"/>
          <ac:graphicFrameMkLst>
            <pc:docMk/>
            <pc:sldMk cId="0" sldId="272"/>
            <ac:graphicFrameMk id="6" creationId="{CBBDBE26-78D5-05A6-6DC8-87DE6992FF51}"/>
          </ac:graphicFrameMkLst>
        </pc:graphicFrameChg>
      </pc:sldChg>
      <pc:sldChg chg="addSp delSp modSp">
        <pc:chgData name="Fabio Pereira" userId="S::fabio.pereira3@concentrix.com::0d949fc7-1943-4dd3-886a-3023b9f24e90" providerId="AD" clId="Web-{63F3FDC0-3F88-A2A8-BD1C-904E0DE2B27B}" dt="2026-03-06T23:23:58.459" v="17"/>
        <pc:sldMkLst>
          <pc:docMk/>
          <pc:sldMk cId="0" sldId="273"/>
        </pc:sldMkLst>
        <pc:grpChg chg="add del">
          <ac:chgData name="Fabio Pereira" userId="S::fabio.pereira3@concentrix.com::0d949fc7-1943-4dd3-886a-3023b9f24e90" providerId="AD" clId="Web-{63F3FDC0-3F88-A2A8-BD1C-904E0DE2B27B}" dt="2026-03-06T23:23:21.959" v="9"/>
          <ac:grpSpMkLst>
            <pc:docMk/>
            <pc:sldMk cId="0" sldId="273"/>
            <ac:grpSpMk id="4" creationId="{00000000-0000-0000-0000-000000000000}"/>
          </ac:grpSpMkLst>
        </pc:grpChg>
        <pc:picChg chg="del topLvl">
          <ac:chgData name="Fabio Pereira" userId="S::fabio.pereira3@concentrix.com::0d949fc7-1943-4dd3-886a-3023b9f24e90" providerId="AD" clId="Web-{63F3FDC0-3F88-A2A8-BD1C-904E0DE2B27B}" dt="2026-03-06T23:23:23.787" v="10"/>
          <ac:picMkLst>
            <pc:docMk/>
            <pc:sldMk cId="0" sldId="273"/>
            <ac:picMk id="5" creationId="{00000000-0000-0000-0000-000000000000}"/>
          </ac:picMkLst>
        </pc:picChg>
        <pc:picChg chg="del topLvl">
          <ac:chgData name="Fabio Pereira" userId="S::fabio.pereira3@concentrix.com::0d949fc7-1943-4dd3-886a-3023b9f24e90" providerId="AD" clId="Web-{63F3FDC0-3F88-A2A8-BD1C-904E0DE2B27B}" dt="2026-03-06T23:23:21.959" v="9"/>
          <ac:picMkLst>
            <pc:docMk/>
            <pc:sldMk cId="0" sldId="273"/>
            <ac:picMk id="6" creationId="{00000000-0000-0000-0000-000000000000}"/>
          </ac:picMkLst>
        </pc:picChg>
        <pc:picChg chg="add mod">
          <ac:chgData name="Fabio Pereira" userId="S::fabio.pereira3@concentrix.com::0d949fc7-1943-4dd3-886a-3023b9f24e90" providerId="AD" clId="Web-{63F3FDC0-3F88-A2A8-BD1C-904E0DE2B27B}" dt="2026-03-06T23:23:58.459" v="17"/>
          <ac:picMkLst>
            <pc:docMk/>
            <pc:sldMk cId="0" sldId="273"/>
            <ac:picMk id="8" creationId="{DF796DE9-29BC-723A-F737-936D6AEDB555}"/>
          </ac:picMkLst>
        </pc:picChg>
      </pc:sldChg>
      <pc:sldChg chg="addSp delSp modSp">
        <pc:chgData name="Fabio Pereira" userId="S::fabio.pereira3@concentrix.com::0d949fc7-1943-4dd3-886a-3023b9f24e90" providerId="AD" clId="Web-{63F3FDC0-3F88-A2A8-BD1C-904E0DE2B27B}" dt="2026-03-06T23:24:30.428" v="25"/>
        <pc:sldMkLst>
          <pc:docMk/>
          <pc:sldMk cId="0" sldId="274"/>
        </pc:sldMkLst>
        <pc:grpChg chg="del">
          <ac:chgData name="Fabio Pereira" userId="S::fabio.pereira3@concentrix.com::0d949fc7-1943-4dd3-886a-3023b9f24e90" providerId="AD" clId="Web-{63F3FDC0-3F88-A2A8-BD1C-904E0DE2B27B}" dt="2026-03-06T23:24:03.787" v="18"/>
          <ac:grpSpMkLst>
            <pc:docMk/>
            <pc:sldMk cId="0" sldId="274"/>
            <ac:grpSpMk id="4" creationId="{00000000-0000-0000-0000-000000000000}"/>
          </ac:grpSpMkLst>
        </pc:grpChg>
        <pc:picChg chg="add mod">
          <ac:chgData name="Fabio Pereira" userId="S::fabio.pereira3@concentrix.com::0d949fc7-1943-4dd3-886a-3023b9f24e90" providerId="AD" clId="Web-{63F3FDC0-3F88-A2A8-BD1C-904E0DE2B27B}" dt="2026-03-06T23:24:30.428" v="25"/>
          <ac:picMkLst>
            <pc:docMk/>
            <pc:sldMk cId="0" sldId="274"/>
            <ac:picMk id="8" creationId="{A923BDAC-B85B-DE0D-05F1-0C9430941FF7}"/>
          </ac:picMkLst>
        </pc:picChg>
      </pc:sldChg>
    </pc:docChg>
  </pc:docChgLst>
</pc:chgInfo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10FB5EE-39F2-4446-A300-DAB08704506A}" authorId="{28DE324D-9840-88BF-C3E9-6AAF37EFFAF7}" created="2026-03-09T16:48:57.81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0"/>
      <ac:spMk id="8" creationId="{00000000-0000-0000-0000-000000000000}"/>
    </ac:deMkLst>
    <p188:txBody>
      <a:bodyPr/>
      <a:lstStyle/>
      <a:p>
        <a:r>
          <a:rPr lang="es-CO"/>
          <a:t>En este campo va Amadeus o Flyr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4D9191-8054-4343-9DB6-C53E49701646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E2FF9-3ABE-40D3-ABCB-1292AA69BC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821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100826" y="3138551"/>
            <a:ext cx="0" cy="508000"/>
          </a:xfrm>
          <a:custGeom>
            <a:avLst/>
            <a:gdLst/>
            <a:ahLst/>
            <a:cxnLst/>
            <a:rect l="l" t="t" r="r" b="b"/>
            <a:pathLst>
              <a:path h="508000">
                <a:moveTo>
                  <a:pt x="0" y="0"/>
                </a:moveTo>
                <a:lnTo>
                  <a:pt x="0" y="5080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25050" y="152400"/>
            <a:ext cx="1990725" cy="5810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- Gradient" type="title">
  <p:cSld name="Cover - Gradient">
    <p:bg>
      <p:bgPr>
        <a:gradFill>
          <a:gsLst>
            <a:gs pos="0">
              <a:schemeClr val="lt2"/>
            </a:gs>
            <a:gs pos="40000">
              <a:schemeClr val="lt2"/>
            </a:gs>
            <a:gs pos="100000">
              <a:schemeClr val="accent2"/>
            </a:gs>
          </a:gsLst>
          <a:lin ang="0" scaled="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603251" y="1424517"/>
            <a:ext cx="10985499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499"/>
              <a:buFont typeface="Red Hat Display"/>
              <a:buNone/>
              <a:defRPr sz="8499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603847" y="4827014"/>
            <a:ext cx="10984311" cy="318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2"/>
          </p:nvPr>
        </p:nvSpPr>
        <p:spPr>
          <a:xfrm>
            <a:off x="603251" y="3769609"/>
            <a:ext cx="10985499" cy="55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None/>
              <a:defRPr sz="2000" b="1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Helvetica Neue"/>
              <a:buNone/>
              <a:defRPr sz="275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21" name="Google Shape;2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7982" y="152663"/>
            <a:ext cx="1989636" cy="57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865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">
  <p:cSld name="Title &amp; 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334962" y="194917"/>
            <a:ext cx="10837862" cy="52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Red Hat Display"/>
              <a:buNone/>
              <a:defRPr sz="24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9pPr>
          </a:lstStyle>
          <a:p>
            <a:endParaRPr/>
          </a:p>
        </p:txBody>
      </p:sp>
      <p:cxnSp>
        <p:nvCxnSpPr>
          <p:cNvPr id="29" name="Google Shape;29;p18"/>
          <p:cNvCxnSpPr/>
          <p:nvPr/>
        </p:nvCxnSpPr>
        <p:spPr>
          <a:xfrm>
            <a:off x="349091" y="821634"/>
            <a:ext cx="11519999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334965" y="981075"/>
            <a:ext cx="11522076" cy="5443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0200"/>
              </a:buClr>
              <a:buSzPts val="2000"/>
              <a:buFont typeface="Helvetica Neue"/>
              <a:buAutoNum type="arabicPeriod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132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16167" y="319865"/>
            <a:ext cx="206360" cy="24648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547627" y="286320"/>
            <a:ext cx="310578" cy="35131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57187" y="823975"/>
            <a:ext cx="11520170" cy="0"/>
          </a:xfrm>
          <a:custGeom>
            <a:avLst/>
            <a:gdLst/>
            <a:ahLst/>
            <a:cxnLst/>
            <a:rect l="l" t="t" r="r" b="b"/>
            <a:pathLst>
              <a:path w="11520170">
                <a:moveTo>
                  <a:pt x="0" y="0"/>
                </a:moveTo>
                <a:lnTo>
                  <a:pt x="11519979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579" y="195897"/>
            <a:ext cx="6590030" cy="4035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2579" y="2781998"/>
            <a:ext cx="11466195" cy="1505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39168" y="6502382"/>
            <a:ext cx="222250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vianca.sharepoint.com/:f:/s/IntranetAvianca/EuiOHqMJw0VPp9dsNJlVM4sByOPRFdDR6SSaCKGuV6NHdA?e=m1gPM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1.xml"/><Relationship Id="rId4" Type="http://schemas.openxmlformats.org/officeDocument/2006/relationships/slide" Target="slide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E_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body" idx="1"/>
          </p:nvPr>
        </p:nvSpPr>
        <p:spPr>
          <a:xfrm>
            <a:off x="408553" y="1100295"/>
            <a:ext cx="9450847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s-CO" sz="1800" b="1" dirty="0"/>
              <a:t>1. Formato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s-CO" sz="1400" b="1" dirty="0"/>
              <a:t>1.1 Tipo y tamaño de letra:</a:t>
            </a:r>
            <a:endParaRPr sz="1400" dirty="0"/>
          </a:p>
          <a:p>
            <a:pPr marL="819150" lvl="1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CO" sz="1400" b="1" dirty="0" err="1"/>
              <a:t>Titles</a:t>
            </a:r>
            <a:r>
              <a:rPr lang="es-CO" sz="1400" b="1" dirty="0"/>
              <a:t>/Head: 24</a:t>
            </a:r>
            <a:endParaRPr sz="1400" dirty="0"/>
          </a:p>
          <a:p>
            <a:pPr marL="819150" lvl="1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CO" sz="1400" dirty="0" err="1"/>
              <a:t>Subtitles</a:t>
            </a:r>
            <a:r>
              <a:rPr lang="es-CO" sz="1400" dirty="0"/>
              <a:t>: 18 (</a:t>
            </a:r>
            <a:r>
              <a:rPr lang="es-CO" sz="1400" dirty="0" err="1"/>
              <a:t>or</a:t>
            </a:r>
            <a:r>
              <a:rPr lang="es-CO" sz="1400" dirty="0"/>
              <a:t> 16)</a:t>
            </a:r>
            <a:endParaRPr dirty="0"/>
          </a:p>
          <a:p>
            <a:pPr marL="819150" lvl="1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CO" sz="1400" dirty="0" err="1"/>
              <a:t>Texts</a:t>
            </a:r>
            <a:r>
              <a:rPr lang="es-CO" sz="1400" dirty="0"/>
              <a:t>: 14 (</a:t>
            </a:r>
            <a:r>
              <a:rPr lang="es-CO" sz="1400" dirty="0" err="1"/>
              <a:t>or</a:t>
            </a:r>
            <a:r>
              <a:rPr lang="es-CO" sz="1400" dirty="0"/>
              <a:t> 12)</a:t>
            </a:r>
            <a:endParaRPr dirty="0"/>
          </a:p>
          <a:p>
            <a:pPr marL="819150" lvl="1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CO" sz="1400" dirty="0" err="1"/>
              <a:t>Legends</a:t>
            </a:r>
            <a:r>
              <a:rPr lang="es-CO" sz="1400" dirty="0"/>
              <a:t>: 10</a:t>
            </a:r>
            <a:endParaRPr dirty="0"/>
          </a:p>
          <a:p>
            <a:pPr marL="819150" lvl="1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CO" sz="1400" dirty="0" err="1"/>
              <a:t>Sticker</a:t>
            </a:r>
            <a:r>
              <a:rPr lang="es-CO" sz="1400" dirty="0"/>
              <a:t>: 10 (gray) </a:t>
            </a:r>
            <a:endParaRPr dirty="0"/>
          </a:p>
          <a:p>
            <a:pPr marL="819150" lvl="1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CO" sz="1400" dirty="0" err="1"/>
              <a:t>Footnotes</a:t>
            </a:r>
            <a:r>
              <a:rPr lang="es-CO" sz="1400" dirty="0"/>
              <a:t>: 8 (gray)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s-CO" sz="1400" b="1" dirty="0"/>
              <a:t>1.2 Letras (</a:t>
            </a:r>
            <a:r>
              <a:rPr lang="es-CO" sz="1400" b="1" u="sng" dirty="0">
                <a:solidFill>
                  <a:schemeClr val="hlink"/>
                </a:solidFill>
                <a:hlinkClick r:id="rId3"/>
              </a:rPr>
              <a:t>link</a:t>
            </a:r>
            <a:r>
              <a:rPr lang="es-CO" sz="1400" b="1" dirty="0"/>
              <a:t>):</a:t>
            </a:r>
            <a:endParaRPr sz="1400" dirty="0"/>
          </a:p>
          <a:p>
            <a:pPr marL="819150" lvl="1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CO" sz="1400" dirty="0"/>
              <a:t>Títulos y subtítulos: Red </a:t>
            </a:r>
            <a:r>
              <a:rPr lang="es-CO" sz="1400" dirty="0" err="1"/>
              <a:t>Hat</a:t>
            </a:r>
            <a:r>
              <a:rPr lang="es-CO" sz="1400" dirty="0"/>
              <a:t> </a:t>
            </a:r>
            <a:r>
              <a:rPr lang="es-CO" sz="1400" dirty="0" err="1"/>
              <a:t>Display</a:t>
            </a:r>
            <a:r>
              <a:rPr lang="es-CO" sz="1400" dirty="0"/>
              <a:t> | </a:t>
            </a:r>
            <a:r>
              <a:rPr lang="es-CO" sz="1400" b="1" dirty="0"/>
              <a:t>Red </a:t>
            </a:r>
            <a:r>
              <a:rPr lang="es-CO" sz="1400" b="1" dirty="0" err="1"/>
              <a:t>Hat</a:t>
            </a:r>
            <a:r>
              <a:rPr lang="es-CO" sz="1400" b="1" dirty="0"/>
              <a:t> </a:t>
            </a:r>
            <a:r>
              <a:rPr lang="es-CO" sz="1400" b="1" dirty="0" err="1"/>
              <a:t>Display</a:t>
            </a:r>
            <a:endParaRPr sz="1400" dirty="0"/>
          </a:p>
          <a:p>
            <a:pPr marL="819150" lvl="1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CO" sz="1400" dirty="0"/>
              <a:t>Otros textos: </a:t>
            </a:r>
            <a:r>
              <a:rPr lang="es-CO" sz="1400" dirty="0" err="1"/>
              <a:t>Helvetica</a:t>
            </a:r>
            <a:endParaRPr sz="1400" dirty="0"/>
          </a:p>
          <a:p>
            <a:pPr marL="76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1200" dirty="0"/>
          </a:p>
          <a:p>
            <a:pPr marL="76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br>
              <a:rPr lang="es-CO" sz="2000" dirty="0"/>
            </a:b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334963" y="293775"/>
            <a:ext cx="11209336" cy="306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Red Hat Display"/>
              <a:buNone/>
            </a:pPr>
            <a:r>
              <a:rPr lang="es-CO" sz="2400" b="1" i="0" u="none" strike="noStrike" cap="none" dirty="0">
                <a:solidFill>
                  <a:srgbClr val="FF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Lineamiento de estilo</a:t>
            </a:r>
            <a:endParaRPr sz="2400" b="1" i="0" u="none" strike="noStrike" cap="none" dirty="0">
              <a:solidFill>
                <a:srgbClr val="FF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>
            <a:spLocks noGrp="1"/>
          </p:cNvSpPr>
          <p:nvPr>
            <p:ph type="body" idx="1"/>
          </p:nvPr>
        </p:nvSpPr>
        <p:spPr>
          <a:xfrm>
            <a:off x="334963" y="805020"/>
            <a:ext cx="9902400" cy="698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s-CO" sz="1800" b="1" dirty="0">
                <a:latin typeface="Helvetica Neue"/>
                <a:ea typeface="Helvetica Neue"/>
                <a:cs typeface="Helvetica Neue"/>
                <a:sym typeface="Helvetica Neue"/>
              </a:rPr>
              <a:t>2. Recomendaciones generales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14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s-CO" sz="1400" b="0" dirty="0">
                <a:latin typeface="Helvetica Neue"/>
                <a:ea typeface="Helvetica Neue"/>
                <a:cs typeface="Helvetica Neue"/>
                <a:sym typeface="Helvetica Neue"/>
              </a:rPr>
              <a:t>Utilizar interlineado de 1.5</a:t>
            </a:r>
            <a:endParaRPr b="0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s-CO" sz="1400" b="0" dirty="0">
                <a:latin typeface="Helvetica Neue"/>
                <a:ea typeface="Helvetica Neue"/>
                <a:cs typeface="Helvetica Neue"/>
                <a:sym typeface="Helvetica Neue"/>
              </a:rPr>
              <a:t>Los párrafos no deben tener sangría.</a:t>
            </a:r>
            <a:endParaRPr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b="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s-CO" sz="1400" b="0" dirty="0">
                <a:latin typeface="Helvetica Neue"/>
                <a:ea typeface="Helvetica Neue"/>
                <a:cs typeface="Helvetica Neue"/>
                <a:sym typeface="Helvetica Neue"/>
              </a:rPr>
              <a:t>Utilizar colores como gris, negro y rojo. Mantener un equilibrio entre los tres. </a:t>
            </a:r>
            <a:endParaRPr sz="1400" b="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b="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Utilizar </a:t>
            </a:r>
            <a:r>
              <a:rPr lang="es-CO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imágenes ilustrativas o capturas de pantalla </a:t>
            </a: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 muestren la herramienta y cómo se visualiza ante el usuario (si aplica).</a:t>
            </a:r>
            <a:endParaRPr b="0" dirty="0"/>
          </a:p>
          <a:p>
            <a:pPr marL="28575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Presentar la información en </a:t>
            </a:r>
            <a:r>
              <a:rPr lang="es-CO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bloques breves y con </a:t>
            </a:r>
            <a:r>
              <a:rPr lang="es-CO" sz="1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bullet</a:t>
            </a:r>
            <a:r>
              <a:rPr lang="es-CO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s-CO" sz="1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points</a:t>
            </a: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evitando párrafos extensos.</a:t>
            </a:r>
            <a:endParaRPr b="0" dirty="0"/>
          </a:p>
          <a:p>
            <a:pPr marL="28575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 </a:t>
            </a:r>
            <a:r>
              <a:rPr lang="es-CO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minucioso y claro </a:t>
            </a: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 explicar cada punto, asegurando la comprensión del usuario.</a:t>
            </a:r>
            <a:endParaRPr b="0" dirty="0"/>
          </a:p>
          <a:p>
            <a:pPr marL="28575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Incluir </a:t>
            </a:r>
            <a:r>
              <a:rPr lang="es-CO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 el contenido teórico o conceptual </a:t>
            </a: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la sección de </a:t>
            </a:r>
            <a:r>
              <a:rPr lang="es-CO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Requisitos previos</a:t>
            </a: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para que las diapositivas se centren en lo operativo.</a:t>
            </a:r>
            <a:endParaRPr b="0" dirty="0"/>
          </a:p>
          <a:p>
            <a:pPr marL="28575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Mantener un </a:t>
            </a:r>
            <a:r>
              <a:rPr lang="es-CO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diseño visual coherente y limpio</a:t>
            </a: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respetando la identidad gráfica definida (tipografía, colores, márgenes, logotipos).</a:t>
            </a:r>
            <a:endParaRPr b="0" dirty="0"/>
          </a:p>
          <a:p>
            <a:pPr marL="28575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CO" sz="1400" b="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Incluir</a:t>
            </a:r>
            <a:r>
              <a:rPr lang="es-CO" sz="1400" b="0" dirty="0">
                <a:latin typeface="Helvetica Neue"/>
                <a:ea typeface="Helvetica Neue"/>
                <a:cs typeface="Helvetica Neue"/>
                <a:sym typeface="Helvetica Neue"/>
              </a:rPr>
              <a:t>, cuando sea útil, </a:t>
            </a:r>
            <a:r>
              <a:rPr lang="es-CO" sz="1400" dirty="0">
                <a:latin typeface="Helvetica Neue"/>
                <a:ea typeface="Helvetica Neue"/>
                <a:cs typeface="Helvetica Neue"/>
                <a:sym typeface="Helvetica Neue"/>
              </a:rPr>
              <a:t>flujogramas, tablas o esquemas visuales </a:t>
            </a:r>
            <a:r>
              <a:rPr lang="es-CO" sz="1400" b="0" dirty="0">
                <a:latin typeface="Helvetica Neue"/>
                <a:ea typeface="Helvetica Neue"/>
                <a:cs typeface="Helvetica Neue"/>
                <a:sym typeface="Helvetica Neue"/>
              </a:rPr>
              <a:t>que faciliten la comprensión de procesos.</a:t>
            </a:r>
            <a:endParaRPr b="0" dirty="0"/>
          </a:p>
          <a:p>
            <a:pPr marL="28575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s-CO" sz="1400" b="0" dirty="0">
                <a:latin typeface="Helvetica Neue"/>
                <a:ea typeface="Helvetica Neue"/>
                <a:cs typeface="Helvetica Neue"/>
                <a:sym typeface="Helvetica Neue"/>
              </a:rPr>
              <a:t>Evitar el exceso de texto o datos innecesarios; priorizar la </a:t>
            </a:r>
            <a:r>
              <a:rPr lang="es-CO" sz="1400" dirty="0">
                <a:latin typeface="Helvetica Neue"/>
                <a:ea typeface="Helvetica Neue"/>
                <a:cs typeface="Helvetica Neue"/>
                <a:sym typeface="Helvetica Neue"/>
              </a:rPr>
              <a:t>claridad sobre la cantidad de información</a:t>
            </a:r>
            <a:r>
              <a:rPr lang="es-CO" sz="1400" b="0" dirty="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dirty="0"/>
          </a:p>
          <a:p>
            <a:pPr marL="28575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s-CO" sz="1400" b="0" dirty="0">
                <a:latin typeface="Helvetica Neue"/>
                <a:ea typeface="Helvetica Neue"/>
                <a:cs typeface="Helvetica Neue"/>
                <a:sym typeface="Helvetica Neue"/>
              </a:rPr>
              <a:t>Revisar ortografía y redacción antes de entregar la presentación; un texto claro refuerza la credibilidad.</a:t>
            </a:r>
            <a:endParaRPr sz="1400" b="0" dirty="0"/>
          </a:p>
          <a:p>
            <a:pPr marL="76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1200" dirty="0"/>
          </a:p>
          <a:p>
            <a:pPr marL="76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br>
              <a:rPr lang="es-CO" sz="2000" dirty="0"/>
            </a:b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" name="Google Shape;71;p2">
            <a:extLst>
              <a:ext uri="{FF2B5EF4-FFF2-40B4-BE49-F238E27FC236}">
                <a16:creationId xmlns:a16="http://schemas.microsoft.com/office/drawing/2014/main" id="{6970B800-56CD-4EC0-36FC-3ED9D85D3FD0}"/>
              </a:ext>
            </a:extLst>
          </p:cNvPr>
          <p:cNvSpPr txBox="1"/>
          <p:nvPr/>
        </p:nvSpPr>
        <p:spPr>
          <a:xfrm>
            <a:off x="334963" y="293775"/>
            <a:ext cx="11209336" cy="306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Red Hat Display"/>
              <a:buNone/>
            </a:pPr>
            <a:r>
              <a:rPr lang="es-CO" sz="2400" b="1" i="0" u="none" strike="noStrike" cap="none">
                <a:solidFill>
                  <a:srgbClr val="FF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Lineamiento de estilo</a:t>
            </a:r>
            <a:endParaRPr sz="2400" b="1" i="0" u="none" strike="noStrike" cap="none">
              <a:solidFill>
                <a:srgbClr val="FF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xfrm>
            <a:off x="603845" y="1655887"/>
            <a:ext cx="10985400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400"/>
              <a:buFont typeface="Red Hat Display"/>
              <a:buNone/>
            </a:pPr>
            <a:r>
              <a:rPr lang="es-CO" b="1" dirty="0"/>
              <a:t>Célula Evolutivos</a:t>
            </a:r>
            <a:endParaRPr dirty="0"/>
          </a:p>
        </p:txBody>
      </p:sp>
      <p:sp>
        <p:nvSpPr>
          <p:cNvPr id="77" name="Google Shape;77;p3"/>
          <p:cNvSpPr txBox="1">
            <a:spLocks noGrp="1"/>
          </p:cNvSpPr>
          <p:nvPr>
            <p:ph type="body" idx="1"/>
          </p:nvPr>
        </p:nvSpPr>
        <p:spPr>
          <a:xfrm>
            <a:off x="603847" y="4827017"/>
            <a:ext cx="109842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</a:pPr>
            <a:r>
              <a:rPr lang="es-CO" dirty="0"/>
              <a:t>Fecha de la entrega</a:t>
            </a:r>
            <a:endParaRPr dirty="0"/>
          </a:p>
        </p:txBody>
      </p:sp>
      <p:sp>
        <p:nvSpPr>
          <p:cNvPr id="78" name="Google Shape;78;p3"/>
          <p:cNvSpPr txBox="1"/>
          <p:nvPr/>
        </p:nvSpPr>
        <p:spPr>
          <a:xfrm>
            <a:off x="735076" y="3593208"/>
            <a:ext cx="109842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s-CO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CO" b="0" i="0" u="none" strike="noStrike" cap="none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Titulo de la actividad como lo muestra </a:t>
            </a:r>
            <a:r>
              <a:rPr lang="es-CO" b="0" i="0" u="none" strike="noStrike" cap="none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azure</a:t>
            </a:r>
            <a:endParaRPr b="0" i="0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25050" y="152400"/>
              <a:ext cx="1990725" cy="58102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71470" y="2058289"/>
            <a:ext cx="7839330" cy="132536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0" b="1" dirty="0">
                <a:solidFill>
                  <a:srgbClr val="FFFFFF"/>
                </a:solidFill>
                <a:latin typeface="Calibri"/>
                <a:cs typeface="Calibri"/>
              </a:rPr>
              <a:t>Célula</a:t>
            </a:r>
            <a:r>
              <a:rPr sz="8500" b="1" spc="-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0" b="1" spc="-65" dirty="0">
                <a:solidFill>
                  <a:srgbClr val="FFFFFF"/>
                </a:solidFill>
                <a:latin typeface="Calibri"/>
                <a:cs typeface="Calibri"/>
              </a:rPr>
              <a:t>Evolutivos</a:t>
            </a:r>
            <a:endParaRPr sz="85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0200" y="3810000"/>
            <a:ext cx="9601200" cy="14010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s-CO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1205870 | VTS | Periodo de validez del modal de </a:t>
            </a:r>
            <a:r>
              <a:rPr lang="es-CO" dirty="0" err="1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expiracion</a:t>
            </a:r>
            <a:r>
              <a:rPr lang="es-CO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de </a:t>
            </a:r>
            <a:r>
              <a:rPr lang="es-CO" dirty="0" err="1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promocodes</a:t>
            </a:r>
            <a:r>
              <a:rPr lang="es-CO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| NS - NBF V.2</a:t>
            </a:r>
            <a:endParaRPr dirty="0">
              <a:solidFill>
                <a:schemeClr val="bg1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lang="es-CO"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000" dirty="0">
              <a:latin typeface="Arial MT"/>
              <a:cs typeface="Arial MT"/>
            </a:endParaRPr>
          </a:p>
          <a:p>
            <a:pPr marL="1935480" marR="2599690" indent="-252095">
              <a:lnSpc>
                <a:spcPct val="101000"/>
              </a:lnSpc>
            </a:pPr>
            <a:r>
              <a:rPr lang="es-CO" sz="1550" dirty="0">
                <a:solidFill>
                  <a:srgbClr val="FFFFFF"/>
                </a:solidFill>
                <a:latin typeface="Arial MT"/>
                <a:cs typeface="Arial MT"/>
              </a:rPr>
              <a:t>                                       </a:t>
            </a:r>
            <a:r>
              <a:rPr lang="es-CO" sz="16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10 Mar, 2026</a:t>
            </a:r>
            <a:endParaRPr lang="es-CO" sz="1600" spc="-10" dirty="0">
              <a:solidFill>
                <a:srgbClr val="FFFFFF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935480" marR="2599690" indent="-252095">
              <a:lnSpc>
                <a:spcPct val="101000"/>
              </a:lnSpc>
            </a:pPr>
            <a:endParaRPr lang="es-CO" sz="1550" spc="-10" dirty="0">
              <a:solidFill>
                <a:srgbClr val="FFFFFF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0" y="1371600"/>
            <a:ext cx="4283075" cy="46557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2745" indent="-360045">
              <a:lnSpc>
                <a:spcPct val="100000"/>
              </a:lnSpc>
              <a:spcBef>
                <a:spcPts val="125"/>
              </a:spcBef>
              <a:buClr>
                <a:srgbClr val="FD0100"/>
              </a:buClr>
              <a:buFont typeface="Calibri"/>
              <a:buAutoNum type="arabicPeriod"/>
              <a:tabLst>
                <a:tab pos="372745" algn="l"/>
              </a:tabLst>
            </a:pPr>
            <a:r>
              <a:rPr spc="-2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Requisitos</a:t>
            </a:r>
            <a:r>
              <a:rPr spc="-6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pc="-1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previos</a:t>
            </a:r>
            <a:endParaRPr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>
              <a:lnSpc>
                <a:spcPct val="100000"/>
              </a:lnSpc>
              <a:spcBef>
                <a:spcPts val="565"/>
              </a:spcBef>
              <a:buClr>
                <a:srgbClr val="FD0100"/>
              </a:buClr>
              <a:buFont typeface="Calibri"/>
              <a:buAutoNum type="arabicPeriod"/>
            </a:pPr>
            <a:endParaRPr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marL="372745" indent="-360045">
              <a:lnSpc>
                <a:spcPct val="100000"/>
              </a:lnSpc>
              <a:spcBef>
                <a:spcPts val="5"/>
              </a:spcBef>
              <a:buClr>
                <a:srgbClr val="FD0100"/>
              </a:buClr>
              <a:buAutoNum type="arabicPeriod"/>
              <a:tabLst>
                <a:tab pos="372745" algn="l"/>
              </a:tabLst>
            </a:pPr>
            <a:r>
              <a:rPr spc="-2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Definición</a:t>
            </a:r>
            <a:r>
              <a:rPr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pc="-2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</a:t>
            </a:r>
            <a:r>
              <a:rPr spc="-9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pc="-1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Requerimiento</a:t>
            </a:r>
            <a:endParaRPr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  <a:buClr>
                <a:srgbClr val="FD0100"/>
              </a:buClr>
              <a:buFont typeface="Calibri"/>
              <a:buAutoNum type="arabicPeriod"/>
            </a:pPr>
            <a:endParaRPr sz="2000"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marL="827405" lvl="1" indent="-360045">
              <a:lnSpc>
                <a:spcPct val="100000"/>
              </a:lnSpc>
              <a:spcBef>
                <a:spcPts val="5"/>
              </a:spcBef>
              <a:buClr>
                <a:srgbClr val="FD0100"/>
              </a:buClr>
              <a:buAutoNum type="arabicPeriod"/>
              <a:tabLst>
                <a:tab pos="827405" algn="l"/>
              </a:tabLst>
            </a:pPr>
            <a:r>
              <a:rPr sz="1600" spc="-10" dirty="0" err="1">
                <a:solidFill>
                  <a:schemeClr val="tx1"/>
                </a:solidFill>
                <a:latin typeface="Red Hat Display "/>
                <a:cs typeface="Calibri"/>
              </a:rPr>
              <a:t>Alcance</a:t>
            </a:r>
            <a:endParaRPr sz="1600"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745"/>
              </a:spcBef>
              <a:buAutoNum type="arabicPeriod"/>
            </a:pPr>
            <a:endParaRPr lang="es-CO" sz="1600"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marL="827405" lvl="1" indent="-360045">
              <a:lnSpc>
                <a:spcPct val="100000"/>
              </a:lnSpc>
              <a:buClr>
                <a:srgbClr val="FD0100"/>
              </a:buClr>
              <a:buAutoNum type="arabicPeriod"/>
              <a:tabLst>
                <a:tab pos="827405" algn="l"/>
              </a:tabLst>
            </a:pPr>
            <a:r>
              <a:rPr sz="1600" spc="-10" dirty="0" err="1">
                <a:solidFill>
                  <a:schemeClr val="tx1"/>
                </a:solidFill>
                <a:latin typeface="Red Hat Display "/>
                <a:cs typeface="Calibri"/>
              </a:rPr>
              <a:t>Aplicabilidad</a:t>
            </a:r>
            <a:endParaRPr sz="1600"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700"/>
              </a:spcBef>
              <a:buAutoNum type="arabicPeriod"/>
            </a:pPr>
            <a:endParaRPr sz="1800"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marL="372745" lvl="1" indent="-360045">
              <a:lnSpc>
                <a:spcPct val="100000"/>
              </a:lnSpc>
              <a:buClr>
                <a:srgbClr val="FD0100"/>
              </a:buClr>
              <a:buAutoNum type="arabicPeriod"/>
              <a:tabLst>
                <a:tab pos="372745" algn="l"/>
              </a:tabLst>
            </a:pPr>
            <a:r>
              <a:rPr spc="-25" dirty="0" err="1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</a:t>
            </a:r>
            <a:r>
              <a:rPr spc="-7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pc="-1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</a:t>
            </a:r>
            <a:r>
              <a:rPr spc="-11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</a:t>
            </a:r>
            <a:r>
              <a:rPr spc="-6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pc="-2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pruebas</a:t>
            </a:r>
            <a:r>
              <a:rPr spc="-6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pc="-1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</a:t>
            </a:r>
            <a:r>
              <a:rPr spc="-5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pc="-1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calidad</a:t>
            </a:r>
            <a:endParaRPr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40"/>
              </a:spcBef>
              <a:buAutoNum type="arabicPeriod"/>
            </a:pPr>
            <a:endParaRPr sz="2000"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marL="827405" lvl="2" indent="-360045">
              <a:lnSpc>
                <a:spcPct val="100000"/>
              </a:lnSpc>
              <a:buClr>
                <a:srgbClr val="FD0100"/>
              </a:buClr>
              <a:buAutoNum type="arabicPeriod"/>
              <a:tabLst>
                <a:tab pos="827405" algn="l"/>
              </a:tabLst>
            </a:pPr>
            <a:r>
              <a:rPr sz="1600" spc="-20" dirty="0">
                <a:solidFill>
                  <a:schemeClr val="tx1"/>
                </a:solidFill>
                <a:latin typeface="Red Hat Display "/>
                <a:cs typeface="Calibri"/>
              </a:rPr>
              <a:t>Script</a:t>
            </a:r>
            <a:r>
              <a:rPr sz="1600" spc="-45" dirty="0">
                <a:solidFill>
                  <a:schemeClr val="tx1"/>
                </a:solidFill>
                <a:latin typeface="Red Hat Display "/>
                <a:cs typeface="Calibri"/>
              </a:rPr>
              <a:t> </a:t>
            </a:r>
            <a:r>
              <a:rPr sz="1600" dirty="0">
                <a:solidFill>
                  <a:schemeClr val="tx1"/>
                </a:solidFill>
                <a:latin typeface="Red Hat Display "/>
                <a:cs typeface="Calibri"/>
              </a:rPr>
              <a:t>de</a:t>
            </a:r>
            <a:r>
              <a:rPr sz="1600" spc="-35" dirty="0">
                <a:solidFill>
                  <a:schemeClr val="tx1"/>
                </a:solidFill>
                <a:latin typeface="Red Hat Display "/>
                <a:cs typeface="Calibri"/>
              </a:rPr>
              <a:t> </a:t>
            </a:r>
            <a:r>
              <a:rPr sz="1600" spc="-25" dirty="0">
                <a:solidFill>
                  <a:schemeClr val="tx1"/>
                </a:solidFill>
                <a:latin typeface="Red Hat Display "/>
                <a:cs typeface="Calibri"/>
              </a:rPr>
              <a:t>pruebas</a:t>
            </a:r>
            <a:r>
              <a:rPr sz="1600" spc="-60" dirty="0">
                <a:solidFill>
                  <a:schemeClr val="tx1"/>
                </a:solidFill>
                <a:latin typeface="Red Hat Display "/>
                <a:cs typeface="Calibri"/>
              </a:rPr>
              <a:t> </a:t>
            </a:r>
            <a:r>
              <a:rPr sz="1600" spc="-20" dirty="0">
                <a:solidFill>
                  <a:schemeClr val="tx1"/>
                </a:solidFill>
                <a:latin typeface="Red Hat Display "/>
                <a:cs typeface="Calibri"/>
              </a:rPr>
              <a:t>(Test</a:t>
            </a:r>
            <a:r>
              <a:rPr sz="1600" spc="-40" dirty="0">
                <a:solidFill>
                  <a:schemeClr val="tx1"/>
                </a:solidFill>
                <a:latin typeface="Red Hat Display "/>
                <a:cs typeface="Calibri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Red Hat Display "/>
                <a:cs typeface="Calibri"/>
              </a:rPr>
              <a:t>Scripts)</a:t>
            </a:r>
            <a:endParaRPr sz="1600"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675"/>
              </a:spcBef>
              <a:buClr>
                <a:srgbClr val="FD0100"/>
              </a:buClr>
              <a:buFont typeface="Calibri"/>
              <a:buAutoNum type="arabicPeriod"/>
            </a:pPr>
            <a:endParaRPr sz="1600"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marL="827405" lvl="2" indent="-360045">
              <a:lnSpc>
                <a:spcPct val="100000"/>
              </a:lnSpc>
              <a:spcBef>
                <a:spcPts val="5"/>
              </a:spcBef>
              <a:buClr>
                <a:srgbClr val="FD0100"/>
              </a:buClr>
              <a:buAutoNum type="arabicPeriod"/>
              <a:tabLst>
                <a:tab pos="827405" algn="l"/>
              </a:tabLst>
            </a:pPr>
            <a:r>
              <a:rPr sz="1600" spc="-20" dirty="0">
                <a:solidFill>
                  <a:schemeClr val="tx1"/>
                </a:solidFill>
                <a:latin typeface="Red Hat Display "/>
                <a:cs typeface="Calibri"/>
              </a:rPr>
              <a:t>Hallazgos</a:t>
            </a:r>
            <a:r>
              <a:rPr sz="1600" spc="-5" dirty="0">
                <a:solidFill>
                  <a:schemeClr val="tx1"/>
                </a:solidFill>
                <a:latin typeface="Red Hat Display "/>
                <a:cs typeface="Calibri"/>
              </a:rPr>
              <a:t> </a:t>
            </a:r>
            <a:r>
              <a:rPr sz="1600" dirty="0">
                <a:solidFill>
                  <a:schemeClr val="tx1"/>
                </a:solidFill>
                <a:latin typeface="Red Hat Display "/>
                <a:cs typeface="Calibri"/>
              </a:rPr>
              <a:t>y</a:t>
            </a:r>
            <a:r>
              <a:rPr sz="1600" spc="-100" dirty="0">
                <a:solidFill>
                  <a:schemeClr val="tx1"/>
                </a:solidFill>
                <a:latin typeface="Red Hat Display "/>
                <a:cs typeface="Calibri"/>
              </a:rPr>
              <a:t> </a:t>
            </a:r>
            <a:r>
              <a:rPr sz="1600" spc="-20" dirty="0">
                <a:solidFill>
                  <a:schemeClr val="tx1"/>
                </a:solidFill>
                <a:latin typeface="Red Hat Display "/>
                <a:cs typeface="Calibri"/>
              </a:rPr>
              <a:t>evidencias</a:t>
            </a:r>
            <a:r>
              <a:rPr sz="1600" spc="-65" dirty="0">
                <a:solidFill>
                  <a:schemeClr val="tx1"/>
                </a:solidFill>
                <a:latin typeface="Red Hat Display "/>
                <a:cs typeface="Calibri"/>
              </a:rPr>
              <a:t> </a:t>
            </a:r>
            <a:r>
              <a:rPr sz="1600" dirty="0">
                <a:solidFill>
                  <a:schemeClr val="tx1"/>
                </a:solidFill>
                <a:latin typeface="Red Hat Display "/>
                <a:cs typeface="Calibri"/>
              </a:rPr>
              <a:t>de</a:t>
            </a:r>
            <a:r>
              <a:rPr sz="1600" spc="-40" dirty="0">
                <a:solidFill>
                  <a:schemeClr val="tx1"/>
                </a:solidFill>
                <a:latin typeface="Red Hat Display "/>
                <a:cs typeface="Calibri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Red Hat Display "/>
                <a:cs typeface="Calibri"/>
              </a:rPr>
              <a:t>certificación</a:t>
            </a:r>
            <a:endParaRPr sz="1600"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770"/>
              </a:spcBef>
              <a:buClr>
                <a:srgbClr val="FD0100"/>
              </a:buClr>
              <a:buFont typeface="Calibri"/>
              <a:buAutoNum type="arabicPeriod"/>
            </a:pPr>
            <a:endParaRPr sz="1800" dirty="0">
              <a:solidFill>
                <a:schemeClr val="tx1"/>
              </a:solidFill>
              <a:latin typeface="Red Hat Display "/>
              <a:cs typeface="Calibri"/>
            </a:endParaRPr>
          </a:p>
          <a:p>
            <a:pPr marL="372745" lvl="1" indent="-360045">
              <a:lnSpc>
                <a:spcPct val="100000"/>
              </a:lnSpc>
              <a:spcBef>
                <a:spcPts val="5"/>
              </a:spcBef>
              <a:buClr>
                <a:srgbClr val="FD0100"/>
              </a:buClr>
              <a:buAutoNum type="arabicPeriod"/>
              <a:tabLst>
                <a:tab pos="372745" algn="l"/>
              </a:tabLst>
            </a:pPr>
            <a:r>
              <a:rPr spc="-2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Código</a:t>
            </a:r>
            <a:r>
              <a:rPr spc="-65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pc="-1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Red Hat Display "/>
                <a:cs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fuente</a:t>
            </a:r>
            <a:endParaRPr dirty="0">
              <a:solidFill>
                <a:schemeClr val="tx1"/>
              </a:solidFill>
              <a:latin typeface="Red Hat Display 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99493" y="6502382"/>
            <a:ext cx="94615" cy="16383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950" spc="-50" dirty="0">
                <a:solidFill>
                  <a:srgbClr val="7E7E7E"/>
                </a:solidFill>
                <a:latin typeface="Arial MT"/>
                <a:cs typeface="Arial MT"/>
              </a:rPr>
              <a:t>2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35" dirty="0"/>
              <a:t> </a:t>
            </a:r>
            <a:r>
              <a:rPr spc="-10" dirty="0"/>
              <a:t>técnico</a:t>
            </a:r>
            <a:r>
              <a:rPr spc="-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b="1" dirty="0">
                <a:latin typeface="Calibri"/>
                <a:cs typeface="Calibri"/>
              </a:rPr>
              <a:t>Índice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Contenidos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1439" y="3139693"/>
            <a:ext cx="330898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Documento</a:t>
            </a:r>
            <a:r>
              <a:rPr sz="32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técnico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450" y="3139693"/>
            <a:ext cx="301244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FFFFFF"/>
                </a:solidFill>
              </a:rPr>
              <a:t>Requisitos</a:t>
            </a:r>
            <a:r>
              <a:rPr sz="3200" spc="-175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previos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334964" y="981075"/>
            <a:ext cx="11522073" cy="320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9388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esta sección debe incluirse toda la información </a:t>
            </a:r>
            <a:r>
              <a:rPr lang="es-CO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introductoria y contextual</a:t>
            </a:r>
            <a:r>
              <a:rPr lang="es-CO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relacionada con el caso. Aquí se describen los </a:t>
            </a:r>
            <a:r>
              <a:rPr lang="es-CO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términos, conceptos y conocimientos necesarios</a:t>
            </a:r>
            <a:r>
              <a:rPr lang="es-CO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el usuario debe comprender antes de revisar o ejecutar los ajustes.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9388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También se deben detallar los </a:t>
            </a:r>
            <a:r>
              <a:rPr lang="es-CO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antecedentes, dependencias técnicas o pruebas previas</a:t>
            </a:r>
            <a:r>
              <a:rPr lang="es-CO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se hayan realizado y que sean relevantes para la correcta comprensión o validación del ajuste.</a:t>
            </a:r>
            <a:endParaRPr/>
          </a:p>
          <a:p>
            <a:pPr marL="179388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79388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79388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O" sz="2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paginas posteriores explican punto por punto cada herramienta, si necesitan añadir mas información pueden hacerlo.</a:t>
            </a: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334963" y="293775"/>
            <a:ext cx="11209336" cy="306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Red Hat Display"/>
              <a:buNone/>
            </a:pPr>
            <a:r>
              <a:rPr lang="es-CO" sz="2400" b="0" i="0" u="none" strike="noStrike" cap="non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Documento técnico | </a:t>
            </a:r>
            <a:r>
              <a:rPr lang="es-CO" sz="2400" b="1" i="0" u="none" strike="noStrike" cap="non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Requisitos previos</a:t>
            </a:r>
            <a:endParaRPr sz="2400" b="1" i="0" u="none" strike="noStrike" cap="none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579" y="1122679"/>
            <a:ext cx="1146048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9230" algn="l"/>
              </a:tabLst>
            </a:pPr>
            <a:r>
              <a:rPr sz="1200" b="1" spc="-10" dirty="0">
                <a:latin typeface="Red Hat Display "/>
                <a:cs typeface="Helvetica" panose="020B0604020202020204" pitchFamily="34" charset="0"/>
              </a:rPr>
              <a:t>Tener</a:t>
            </a:r>
            <a:r>
              <a:rPr sz="1200" b="1" spc="-55" dirty="0">
                <a:latin typeface="Red Hat Display "/>
                <a:cs typeface="Helvetica" panose="020B0604020202020204" pitchFamily="34" charset="0"/>
              </a:rPr>
              <a:t> </a:t>
            </a:r>
            <a:r>
              <a:rPr sz="1200" b="1" dirty="0">
                <a:latin typeface="Red Hat Display "/>
                <a:cs typeface="Helvetica" panose="020B0604020202020204" pitchFamily="34" charset="0"/>
              </a:rPr>
              <a:t>instalado</a:t>
            </a:r>
            <a:r>
              <a:rPr sz="1200" b="1" spc="-25" dirty="0">
                <a:latin typeface="Red Hat Display "/>
                <a:cs typeface="Helvetica" panose="020B0604020202020204" pitchFamily="34" charset="0"/>
              </a:rPr>
              <a:t> </a:t>
            </a:r>
            <a:r>
              <a:rPr sz="1200" b="1" dirty="0">
                <a:latin typeface="Red Hat Display "/>
                <a:cs typeface="Helvetica" panose="020B0604020202020204" pitchFamily="34" charset="0"/>
              </a:rPr>
              <a:t>un</a:t>
            </a:r>
            <a:r>
              <a:rPr sz="1200" b="1" spc="-30" dirty="0">
                <a:latin typeface="Red Hat Display "/>
                <a:cs typeface="Helvetica" panose="020B0604020202020204" pitchFamily="34" charset="0"/>
              </a:rPr>
              <a:t> </a:t>
            </a:r>
            <a:r>
              <a:rPr sz="1200" b="1" dirty="0">
                <a:latin typeface="Red Hat Display "/>
                <a:cs typeface="Helvetica" panose="020B0604020202020204" pitchFamily="34" charset="0"/>
              </a:rPr>
              <a:t>navegador</a:t>
            </a:r>
            <a:r>
              <a:rPr sz="1200" b="1" spc="-50" dirty="0">
                <a:latin typeface="Red Hat Display "/>
                <a:cs typeface="Helvetica" panose="020B0604020202020204" pitchFamily="34" charset="0"/>
              </a:rPr>
              <a:t> </a:t>
            </a:r>
            <a:r>
              <a:rPr sz="1200" b="1" dirty="0">
                <a:latin typeface="Red Hat Display "/>
                <a:cs typeface="Helvetica" panose="020B0604020202020204" pitchFamily="34" charset="0"/>
              </a:rPr>
              <a:t>web</a:t>
            </a:r>
            <a:r>
              <a:rPr sz="1200" b="1" spc="-30" dirty="0">
                <a:latin typeface="Red Hat Display "/>
                <a:cs typeface="Helvetica" panose="020B0604020202020204" pitchFamily="34" charset="0"/>
              </a:rPr>
              <a:t> </a:t>
            </a:r>
            <a:r>
              <a:rPr sz="1200" b="1" spc="-10" dirty="0">
                <a:latin typeface="Red Hat Display "/>
                <a:cs typeface="Helvetica" panose="020B0604020202020204" pitchFamily="34" charset="0"/>
              </a:rPr>
              <a:t>moderno</a:t>
            </a:r>
            <a:endParaRPr sz="1200" dirty="0">
              <a:latin typeface="Red Hat Display "/>
              <a:cs typeface="Helvetica" panose="020B0604020202020204" pitchFamily="34" charset="0"/>
            </a:endParaRPr>
          </a:p>
          <a:p>
            <a:pPr marL="645795" marR="5080" lvl="1" indent="-175895">
              <a:lnSpc>
                <a:spcPct val="148700"/>
              </a:lnSpc>
              <a:spcBef>
                <a:spcPts val="935"/>
              </a:spcBef>
              <a:buChar char="•"/>
              <a:tabLst>
                <a:tab pos="645795" algn="l"/>
              </a:tabLst>
            </a:pP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</a:t>
            </a:r>
            <a:r>
              <a:rPr sz="1200" spc="-7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fundamental</a:t>
            </a:r>
            <a:r>
              <a:rPr sz="1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contar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un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navegador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actualizado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(Google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Chrome,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Firefox,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Edge,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etc.),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ya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que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este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será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entorno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donde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se</a:t>
            </a:r>
            <a:r>
              <a:rPr sz="1200" spc="-1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visualizarán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probarán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las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aplicaciones</a:t>
            </a:r>
            <a:r>
              <a:rPr sz="1200" spc="-7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web.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Un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navegador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moderno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permite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utilizar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herramientas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desarrollo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integradas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que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son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esenciales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para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depurar</a:t>
            </a:r>
            <a:r>
              <a:rPr sz="1200" spc="-1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verificar</a:t>
            </a:r>
            <a:r>
              <a:rPr sz="1200" spc="-8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código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HTML,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CSS,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JavaScript,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otros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elementos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relacionados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experiencia</a:t>
            </a:r>
            <a:r>
              <a:rPr sz="12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del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usuario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en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sitio.</a:t>
            </a: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9230" algn="l"/>
              </a:tabLst>
            </a:pPr>
            <a:r>
              <a:rPr spc="-10" dirty="0">
                <a:latin typeface="Red Hat Display "/>
              </a:rPr>
              <a:t>Tener</a:t>
            </a:r>
            <a:r>
              <a:rPr spc="-35" dirty="0">
                <a:latin typeface="Red Hat Display "/>
              </a:rPr>
              <a:t> </a:t>
            </a:r>
            <a:r>
              <a:rPr dirty="0">
                <a:latin typeface="Red Hat Display "/>
              </a:rPr>
              <a:t>instalado</a:t>
            </a:r>
            <a:r>
              <a:rPr spc="-5" dirty="0">
                <a:latin typeface="Red Hat Display "/>
              </a:rPr>
              <a:t> </a:t>
            </a:r>
            <a:r>
              <a:rPr dirty="0">
                <a:latin typeface="Red Hat Display "/>
              </a:rPr>
              <a:t>un</a:t>
            </a:r>
            <a:r>
              <a:rPr spc="-5" dirty="0">
                <a:latin typeface="Red Hat Display "/>
              </a:rPr>
              <a:t> </a:t>
            </a:r>
            <a:r>
              <a:rPr dirty="0">
                <a:latin typeface="Red Hat Display "/>
              </a:rPr>
              <a:t>editor</a:t>
            </a:r>
            <a:r>
              <a:rPr spc="-30" dirty="0">
                <a:latin typeface="Red Hat Display "/>
              </a:rPr>
              <a:t> </a:t>
            </a:r>
            <a:r>
              <a:rPr dirty="0">
                <a:latin typeface="Red Hat Display "/>
              </a:rPr>
              <a:t>de</a:t>
            </a:r>
            <a:r>
              <a:rPr spc="-75" dirty="0">
                <a:latin typeface="Red Hat Display "/>
              </a:rPr>
              <a:t> </a:t>
            </a:r>
            <a:r>
              <a:rPr dirty="0">
                <a:latin typeface="Red Hat Display "/>
              </a:rPr>
              <a:t>texto</a:t>
            </a:r>
            <a:r>
              <a:rPr spc="-5" dirty="0">
                <a:latin typeface="Red Hat Display "/>
              </a:rPr>
              <a:t> </a:t>
            </a:r>
            <a:r>
              <a:rPr dirty="0">
                <a:latin typeface="Red Hat Display "/>
              </a:rPr>
              <a:t>para</a:t>
            </a:r>
            <a:r>
              <a:rPr spc="-15" dirty="0">
                <a:latin typeface="Red Hat Display "/>
              </a:rPr>
              <a:t> </a:t>
            </a:r>
            <a:r>
              <a:rPr dirty="0">
                <a:latin typeface="Red Hat Display "/>
              </a:rPr>
              <a:t>desarrollo </a:t>
            </a:r>
            <a:r>
              <a:rPr spc="-10" dirty="0">
                <a:latin typeface="Red Hat Display "/>
              </a:rPr>
              <a:t>(recomendado:</a:t>
            </a:r>
            <a:r>
              <a:rPr spc="-40" dirty="0">
                <a:latin typeface="Red Hat Display "/>
              </a:rPr>
              <a:t> </a:t>
            </a:r>
            <a:r>
              <a:rPr spc="-10" dirty="0">
                <a:latin typeface="Red Hat Display "/>
              </a:rPr>
              <a:t>Visual</a:t>
            </a:r>
            <a:r>
              <a:rPr spc="-45" dirty="0">
                <a:latin typeface="Red Hat Display "/>
              </a:rPr>
              <a:t> </a:t>
            </a:r>
            <a:r>
              <a:rPr dirty="0">
                <a:latin typeface="Red Hat Display "/>
              </a:rPr>
              <a:t>Studio</a:t>
            </a:r>
            <a:r>
              <a:rPr spc="5" dirty="0">
                <a:latin typeface="Red Hat Display "/>
              </a:rPr>
              <a:t> </a:t>
            </a:r>
            <a:r>
              <a:rPr spc="-10" dirty="0">
                <a:latin typeface="Red Hat Display "/>
              </a:rPr>
              <a:t>Code)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pc="-10" dirty="0"/>
          </a:p>
          <a:p>
            <a:pPr marL="645795" marR="5080" lvl="1" indent="-175895">
              <a:lnSpc>
                <a:spcPct val="151200"/>
              </a:lnSpc>
              <a:spcBef>
                <a:spcPts val="5"/>
              </a:spcBef>
              <a:buChar char="•"/>
              <a:tabLst>
                <a:tab pos="645795" algn="l"/>
              </a:tabLst>
            </a:pP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Visual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Studio</a:t>
            </a:r>
            <a:r>
              <a:rPr sz="1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Code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(VSCode)</a:t>
            </a:r>
            <a:r>
              <a:rPr sz="1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un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editor de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texto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ampliamente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utilizado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por</a:t>
            </a:r>
            <a:r>
              <a:rPr sz="1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desarrolladores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web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debido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su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versatilidad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soporte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múltiples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extensiones.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Facilita</a:t>
            </a:r>
            <a:r>
              <a:rPr sz="1200" spc="-7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escritura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código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funciones</a:t>
            </a:r>
            <a:r>
              <a:rPr sz="12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como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autocompletado,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depuración,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manejo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control</a:t>
            </a:r>
            <a:r>
              <a:rPr sz="1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versiones</a:t>
            </a:r>
            <a:r>
              <a:rPr sz="12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mediante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Git.</a:t>
            </a:r>
            <a:r>
              <a:rPr sz="1200" spc="-1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Aunque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puede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utilizar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cualquier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editor</a:t>
            </a:r>
            <a:r>
              <a:rPr sz="1200" spc="-8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texto,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VSCode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altamente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recomendado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por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su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integración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plataformas</a:t>
            </a:r>
            <a:r>
              <a:rPr sz="12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como</a:t>
            </a:r>
            <a:r>
              <a:rPr sz="1200" spc="-10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Adobe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Target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herramientas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adicionales</a:t>
            </a:r>
            <a:r>
              <a:rPr sz="12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útiles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en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flujo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trabajo</a:t>
            </a:r>
            <a:r>
              <a:rPr sz="1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desarrollo.</a:t>
            </a: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579" y="4794884"/>
            <a:ext cx="11495405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9230" algn="l"/>
              </a:tabLst>
            </a:pPr>
            <a:r>
              <a:rPr sz="1200" b="1" spc="-10" dirty="0">
                <a:latin typeface="Red Hat Display "/>
                <a:cs typeface="Arial"/>
              </a:rPr>
              <a:t>Conocimientos</a:t>
            </a:r>
            <a:r>
              <a:rPr sz="1200" b="1" spc="-40" dirty="0">
                <a:latin typeface="Red Hat Display "/>
                <a:cs typeface="Arial"/>
              </a:rPr>
              <a:t> </a:t>
            </a:r>
            <a:r>
              <a:rPr sz="1200" b="1" dirty="0">
                <a:latin typeface="Red Hat Display "/>
                <a:cs typeface="Arial"/>
              </a:rPr>
              <a:t>de</a:t>
            </a:r>
            <a:r>
              <a:rPr sz="1200" b="1" spc="-5" dirty="0">
                <a:latin typeface="Red Hat Display "/>
                <a:cs typeface="Arial"/>
              </a:rPr>
              <a:t> </a:t>
            </a:r>
            <a:r>
              <a:rPr sz="1200" b="1" dirty="0">
                <a:latin typeface="Red Hat Display "/>
                <a:cs typeface="Arial"/>
              </a:rPr>
              <a:t>Cascading</a:t>
            </a:r>
            <a:r>
              <a:rPr sz="1200" b="1" spc="10" dirty="0">
                <a:latin typeface="Red Hat Display "/>
                <a:cs typeface="Arial"/>
              </a:rPr>
              <a:t> </a:t>
            </a:r>
            <a:r>
              <a:rPr sz="1200" b="1" dirty="0">
                <a:latin typeface="Red Hat Display "/>
                <a:cs typeface="Arial"/>
              </a:rPr>
              <a:t>Style</a:t>
            </a:r>
            <a:r>
              <a:rPr sz="1200" b="1" spc="20" dirty="0">
                <a:latin typeface="Red Hat Display "/>
                <a:cs typeface="Arial"/>
              </a:rPr>
              <a:t> </a:t>
            </a:r>
            <a:r>
              <a:rPr sz="1200" b="1" dirty="0">
                <a:latin typeface="Red Hat Display "/>
                <a:cs typeface="Arial"/>
              </a:rPr>
              <a:t>Sheets</a:t>
            </a:r>
            <a:r>
              <a:rPr sz="1200" b="1" spc="-40" dirty="0">
                <a:latin typeface="Red Hat Display "/>
                <a:cs typeface="Arial"/>
              </a:rPr>
              <a:t> </a:t>
            </a:r>
            <a:r>
              <a:rPr sz="1200" b="1" spc="-10" dirty="0">
                <a:latin typeface="Red Hat Display "/>
                <a:cs typeface="Arial"/>
              </a:rPr>
              <a:t>(CSS)</a:t>
            </a:r>
            <a:endParaRPr sz="1200" dirty="0">
              <a:latin typeface="Red Hat Display 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1200" dirty="0">
              <a:latin typeface="Arial"/>
              <a:cs typeface="Arial"/>
            </a:endParaRPr>
          </a:p>
          <a:p>
            <a:pPr marL="645795" marR="5080" lvl="1" indent="-175895">
              <a:lnSpc>
                <a:spcPct val="151200"/>
              </a:lnSpc>
              <a:buChar char="•"/>
              <a:tabLst>
                <a:tab pos="645795" algn="l"/>
              </a:tabLst>
            </a:pP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CSS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esencial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para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diseño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presentación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las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páginas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web.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30" dirty="0">
                <a:latin typeface="Helvetica" panose="020B0604020202020204" pitchFamily="34" charset="0"/>
                <a:cs typeface="Helvetica" panose="020B0604020202020204" pitchFamily="34" charset="0"/>
              </a:rPr>
              <a:t>Tener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un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buen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dominio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CSS</a:t>
            </a:r>
            <a:r>
              <a:rPr sz="1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permite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estructurar y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estilizar</a:t>
            </a:r>
            <a:r>
              <a:rPr sz="1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los</a:t>
            </a:r>
            <a:r>
              <a:rPr sz="12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elementos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visuales,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crear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diseños</a:t>
            </a:r>
            <a:r>
              <a:rPr sz="1200" spc="-7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adaptables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(responsive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design)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-7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mejorar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 experiencia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del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usuario</a:t>
            </a:r>
            <a:r>
              <a:rPr sz="1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(UX).</a:t>
            </a:r>
            <a:r>
              <a:rPr sz="1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Esto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incluye</a:t>
            </a:r>
            <a:r>
              <a:rPr sz="1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entender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conceptos</a:t>
            </a:r>
            <a:r>
              <a:rPr sz="1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como</a:t>
            </a:r>
            <a:r>
              <a:rPr sz="1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selectores,</a:t>
            </a:r>
            <a:r>
              <a:rPr sz="1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propiedades,</a:t>
            </a:r>
            <a:r>
              <a:rPr sz="1200" spc="7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flexbox,</a:t>
            </a:r>
            <a:r>
              <a:rPr sz="1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grid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layout,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media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queries,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preprocesadores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como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Sass,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que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optimizan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gestión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del</a:t>
            </a:r>
            <a:r>
              <a:rPr sz="1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código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CSS.</a:t>
            </a: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70" dirty="0"/>
              <a:t> </a:t>
            </a:r>
            <a:r>
              <a:rPr spc="-10" dirty="0"/>
              <a:t>técnico</a:t>
            </a:r>
            <a:r>
              <a:rPr spc="-6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b="1" dirty="0">
                <a:latin typeface="Calibri"/>
                <a:cs typeface="Calibri"/>
              </a:rPr>
              <a:t>Requisitos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previos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579" y="1122679"/>
            <a:ext cx="11459845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9230" algn="l"/>
              </a:tabLst>
            </a:pPr>
            <a:r>
              <a:rPr sz="1200" b="1" spc="-10" dirty="0">
                <a:latin typeface="Red Hat Display "/>
                <a:cs typeface="Arial" panose="020B0604020202020204" pitchFamily="34" charset="0"/>
              </a:rPr>
              <a:t>Conocimientos</a:t>
            </a:r>
            <a:r>
              <a:rPr sz="1200" b="1" spc="-50" dirty="0">
                <a:latin typeface="Red Hat Display "/>
                <a:cs typeface="Arial" panose="020B0604020202020204" pitchFamily="34" charset="0"/>
              </a:rPr>
              <a:t> </a:t>
            </a:r>
            <a:r>
              <a:rPr sz="1200" b="1" dirty="0">
                <a:latin typeface="Red Hat Display "/>
                <a:cs typeface="Arial" panose="020B0604020202020204" pitchFamily="34" charset="0"/>
              </a:rPr>
              <a:t>de</a:t>
            </a:r>
            <a:r>
              <a:rPr sz="1200" b="1" spc="-15" dirty="0">
                <a:latin typeface="Red Hat Display "/>
                <a:cs typeface="Arial" panose="020B0604020202020204" pitchFamily="34" charset="0"/>
              </a:rPr>
              <a:t> </a:t>
            </a:r>
            <a:r>
              <a:rPr sz="1200" b="1" spc="-10" dirty="0">
                <a:latin typeface="Red Hat Display "/>
                <a:cs typeface="Arial" panose="020B0604020202020204" pitchFamily="34" charset="0"/>
              </a:rPr>
              <a:t>HyperText</a:t>
            </a:r>
            <a:r>
              <a:rPr sz="1200" b="1" spc="20" dirty="0">
                <a:latin typeface="Red Hat Display "/>
                <a:cs typeface="Arial" panose="020B0604020202020204" pitchFamily="34" charset="0"/>
              </a:rPr>
              <a:t> </a:t>
            </a:r>
            <a:r>
              <a:rPr sz="1200" b="1" dirty="0">
                <a:latin typeface="Red Hat Display "/>
                <a:cs typeface="Arial" panose="020B0604020202020204" pitchFamily="34" charset="0"/>
              </a:rPr>
              <a:t>Markup</a:t>
            </a:r>
            <a:r>
              <a:rPr sz="1200" b="1" spc="-5" dirty="0">
                <a:latin typeface="Red Hat Display "/>
                <a:cs typeface="Arial" panose="020B0604020202020204" pitchFamily="34" charset="0"/>
              </a:rPr>
              <a:t> </a:t>
            </a:r>
            <a:r>
              <a:rPr sz="1200" b="1" dirty="0">
                <a:latin typeface="Red Hat Display "/>
                <a:cs typeface="Arial" panose="020B0604020202020204" pitchFamily="34" charset="0"/>
              </a:rPr>
              <a:t>Language</a:t>
            </a:r>
            <a:r>
              <a:rPr sz="1200" b="1" spc="-35" dirty="0">
                <a:latin typeface="Red Hat Display "/>
                <a:cs typeface="Arial" panose="020B0604020202020204" pitchFamily="34" charset="0"/>
              </a:rPr>
              <a:t> </a:t>
            </a:r>
            <a:r>
              <a:rPr sz="1200" b="1" spc="-10" dirty="0">
                <a:latin typeface="Red Hat Display "/>
                <a:cs typeface="Arial" panose="020B0604020202020204" pitchFamily="34" charset="0"/>
              </a:rPr>
              <a:t>(HTML)</a:t>
            </a:r>
            <a:endParaRPr sz="1200" dirty="0">
              <a:latin typeface="Red Hat Display "/>
              <a:cs typeface="Arial" panose="020B0604020202020204" pitchFamily="34" charset="0"/>
            </a:endParaRPr>
          </a:p>
          <a:p>
            <a:pPr marL="645795" marR="5080" lvl="1" indent="-175895">
              <a:lnSpc>
                <a:spcPct val="148700"/>
              </a:lnSpc>
              <a:spcBef>
                <a:spcPts val="935"/>
              </a:spcBef>
              <a:buChar char="•"/>
              <a:tabLst>
                <a:tab pos="645795" algn="l"/>
              </a:tabLst>
            </a:pP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HTML</a:t>
            </a:r>
            <a:r>
              <a:rPr sz="1200" spc="-10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 el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lenguaje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base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para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estructura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las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páginas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web.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necesario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comprender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su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semántica,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jerarquía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elementos,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atributos,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formularios,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cómo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interactúa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otros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lenguajes</a:t>
            </a:r>
            <a:r>
              <a:rPr sz="1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(como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CSS</a:t>
            </a:r>
            <a:r>
              <a:rPr sz="1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JavaScript)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para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renderizar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contenido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en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un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navegador.</a:t>
            </a:r>
            <a:r>
              <a:rPr sz="1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Conocimientos</a:t>
            </a:r>
            <a:r>
              <a:rPr sz="12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sólidos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30" dirty="0">
                <a:latin typeface="Helvetica" panose="020B0604020202020204" pitchFamily="34" charset="0"/>
                <a:cs typeface="Helvetica" panose="020B0604020202020204" pitchFamily="34" charset="0"/>
              </a:rPr>
              <a:t>HTML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son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fundamentales</a:t>
            </a:r>
            <a:r>
              <a:rPr sz="1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para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crear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páginas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accesibles,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bien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estructuradas,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optimizadas</a:t>
            </a:r>
            <a:r>
              <a:rPr sz="12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para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SEO.</a:t>
            </a: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22579" y="2781998"/>
            <a:ext cx="11383645" cy="1505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9230" algn="l"/>
              </a:tabLst>
            </a:pPr>
            <a:r>
              <a:rPr sz="1200" b="1" spc="-10" dirty="0">
                <a:latin typeface="Red Hat Display "/>
                <a:cs typeface="Arial"/>
              </a:rPr>
              <a:t>Conocimientos</a:t>
            </a:r>
            <a:r>
              <a:rPr sz="1200" b="1" spc="5" dirty="0">
                <a:latin typeface="Red Hat Display "/>
                <a:cs typeface="Arial"/>
              </a:rPr>
              <a:t> </a:t>
            </a:r>
            <a:r>
              <a:rPr sz="1200" b="1" dirty="0">
                <a:latin typeface="Red Hat Display "/>
                <a:cs typeface="Arial"/>
              </a:rPr>
              <a:t>de</a:t>
            </a:r>
            <a:r>
              <a:rPr sz="1200" b="1" spc="5" dirty="0">
                <a:latin typeface="Red Hat Display "/>
                <a:cs typeface="Arial"/>
              </a:rPr>
              <a:t> </a:t>
            </a:r>
            <a:r>
              <a:rPr sz="1200" b="1" spc="-10" dirty="0">
                <a:latin typeface="Red Hat Display "/>
                <a:cs typeface="Arial"/>
              </a:rPr>
              <a:t>JavaScript</a:t>
            </a:r>
            <a:endParaRPr sz="1200" dirty="0">
              <a:latin typeface="Red Hat Display 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1200" dirty="0">
              <a:latin typeface="Arial"/>
              <a:cs typeface="Arial"/>
            </a:endParaRPr>
          </a:p>
          <a:p>
            <a:pPr marL="645795" marR="5080" lvl="1" indent="-175895">
              <a:lnSpc>
                <a:spcPct val="151200"/>
              </a:lnSpc>
              <a:spcBef>
                <a:spcPts val="5"/>
              </a:spcBef>
              <a:buChar char="•"/>
              <a:tabLst>
                <a:tab pos="645795" algn="l"/>
              </a:tabLst>
            </a:pP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JavaScript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clave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para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agregar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interactividad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las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páginas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web.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Comprender JavaScript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en</a:t>
            </a:r>
            <a:r>
              <a:rPr sz="12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profundidad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(incluyendo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ES6+ y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las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buenas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prácticas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de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desarrollo)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esencial</a:t>
            </a:r>
            <a:r>
              <a:rPr sz="1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para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manipular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DOM,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manejar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eventos,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crear</a:t>
            </a:r>
            <a:r>
              <a:rPr sz="1200" spc="-8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dinámicas</a:t>
            </a:r>
            <a:r>
              <a:rPr sz="12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carga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(AJAX,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Fetch</a:t>
            </a:r>
            <a:r>
              <a:rPr sz="1200" spc="-7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API),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trabajar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librerías</a:t>
            </a:r>
            <a:r>
              <a:rPr sz="1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frameworks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como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React,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Angular</a:t>
            </a:r>
            <a:r>
              <a:rPr sz="1200" spc="-8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2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Vue.js,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gestionar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estado</a:t>
            </a:r>
            <a:r>
              <a:rPr sz="1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las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aplicaciones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web.</a:t>
            </a:r>
            <a:r>
              <a:rPr sz="1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También</a:t>
            </a:r>
            <a:r>
              <a:rPr sz="12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crucial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para</a:t>
            </a:r>
            <a:r>
              <a:rPr sz="1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2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integración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</a:t>
            </a:r>
            <a:r>
              <a:rPr sz="1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plataformas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análisis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optimización</a:t>
            </a:r>
            <a:r>
              <a:rPr sz="12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como</a:t>
            </a:r>
            <a:r>
              <a:rPr sz="1200" spc="-10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Adobe Target.</a:t>
            </a: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579" y="4794884"/>
            <a:ext cx="11253470" cy="1505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9230" algn="l"/>
              </a:tabLst>
            </a:pPr>
            <a:r>
              <a:rPr sz="1200" b="1" spc="-10" dirty="0">
                <a:latin typeface="Red Hat Display "/>
                <a:cs typeface="Arial"/>
              </a:rPr>
              <a:t>Conocimientos</a:t>
            </a:r>
            <a:r>
              <a:rPr sz="1200" b="1" spc="-15" dirty="0">
                <a:latin typeface="Red Hat Display "/>
                <a:cs typeface="Arial"/>
              </a:rPr>
              <a:t> </a:t>
            </a:r>
            <a:r>
              <a:rPr sz="1200" b="1" dirty="0">
                <a:latin typeface="Red Hat Display "/>
                <a:cs typeface="Arial"/>
              </a:rPr>
              <a:t>sobre</a:t>
            </a:r>
            <a:r>
              <a:rPr sz="1200" b="1" spc="-10" dirty="0">
                <a:latin typeface="Red Hat Display "/>
                <a:cs typeface="Arial"/>
              </a:rPr>
              <a:t> </a:t>
            </a:r>
            <a:r>
              <a:rPr sz="1200" b="1" dirty="0">
                <a:latin typeface="Red Hat Display "/>
                <a:cs typeface="Arial"/>
              </a:rPr>
              <a:t>Adobe</a:t>
            </a:r>
            <a:r>
              <a:rPr sz="1200" b="1" spc="-15" dirty="0">
                <a:latin typeface="Red Hat Display "/>
                <a:cs typeface="Arial"/>
              </a:rPr>
              <a:t> </a:t>
            </a:r>
            <a:r>
              <a:rPr sz="1200" b="1" spc="-10" dirty="0">
                <a:latin typeface="Red Hat Display "/>
                <a:cs typeface="Arial"/>
              </a:rPr>
              <a:t>Target</a:t>
            </a:r>
            <a:endParaRPr sz="1200" dirty="0">
              <a:latin typeface="Red Hat Display 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1200" dirty="0">
              <a:latin typeface="Arial"/>
              <a:cs typeface="Arial"/>
            </a:endParaRPr>
          </a:p>
          <a:p>
            <a:pPr marL="645795" marR="5080" lvl="1" indent="-175895">
              <a:lnSpc>
                <a:spcPct val="151200"/>
              </a:lnSpc>
              <a:buChar char="•"/>
              <a:tabLst>
                <a:tab pos="645795" algn="l"/>
              </a:tabLst>
            </a:pP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Adobe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Target</a:t>
            </a:r>
            <a:r>
              <a:rPr sz="1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</a:t>
            </a:r>
            <a:r>
              <a:rPr sz="1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una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herramienta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personalización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testing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que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permite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optimizar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experiencia</a:t>
            </a:r>
            <a:r>
              <a:rPr sz="12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del</a:t>
            </a:r>
            <a:r>
              <a:rPr sz="1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usuario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en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las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aplicaciones web.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Se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requiere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entender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cómo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crear</a:t>
            </a:r>
            <a:r>
              <a:rPr sz="1200" spc="-7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actividades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testing</a:t>
            </a:r>
            <a:r>
              <a:rPr sz="1200" spc="-7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A/B,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segmentación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audiencias,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personalización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contenido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en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tiempo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real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integración</a:t>
            </a:r>
            <a:r>
              <a:rPr sz="12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Target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</a:t>
            </a:r>
            <a:r>
              <a:rPr sz="1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otras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herramientas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Adobe</a:t>
            </a:r>
            <a:r>
              <a:rPr sz="1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Experience</a:t>
            </a:r>
            <a:r>
              <a:rPr sz="1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Cloud.</a:t>
            </a:r>
            <a:r>
              <a:rPr sz="1200" spc="-7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Además,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es</a:t>
            </a:r>
            <a:r>
              <a:rPr sz="1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importante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conocer</a:t>
            </a:r>
            <a:r>
              <a:rPr sz="1200" spc="-8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cómo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funciona</a:t>
            </a:r>
            <a:r>
              <a:rPr sz="12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inserción</a:t>
            </a:r>
            <a:r>
              <a:rPr sz="12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200" spc="8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snippets de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Target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en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código</a:t>
            </a:r>
            <a:r>
              <a:rPr sz="1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HTML,</a:t>
            </a:r>
            <a:r>
              <a:rPr sz="1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así</a:t>
            </a:r>
            <a:r>
              <a:rPr sz="1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como</a:t>
            </a:r>
            <a:r>
              <a:rPr sz="1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su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interacción</a:t>
            </a:r>
            <a:r>
              <a:rPr sz="12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con</a:t>
            </a:r>
            <a:r>
              <a:rPr sz="1200" spc="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DOM</a:t>
            </a:r>
            <a:r>
              <a:rPr sz="1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para</a:t>
            </a:r>
            <a:r>
              <a:rPr sz="1200" spc="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garantizar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 que</a:t>
            </a:r>
            <a:r>
              <a:rPr sz="1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las</a:t>
            </a:r>
            <a:r>
              <a:rPr sz="12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pruebas</a:t>
            </a:r>
            <a:r>
              <a:rPr sz="12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personalizaciones</a:t>
            </a:r>
            <a:r>
              <a:rPr sz="1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se</a:t>
            </a:r>
            <a:r>
              <a:rPr sz="1200" spc="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desplieguen</a:t>
            </a:r>
            <a:r>
              <a:rPr sz="1200" spc="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correctamente</a:t>
            </a:r>
            <a:r>
              <a:rPr sz="1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sin</a:t>
            </a:r>
            <a:r>
              <a:rPr sz="1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comprometer</a:t>
            </a:r>
            <a:r>
              <a:rPr sz="12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rendimiento</a:t>
            </a:r>
            <a:r>
              <a:rPr sz="1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latin typeface="Helvetica" panose="020B0604020202020204" pitchFamily="34" charset="0"/>
                <a:cs typeface="Helvetica" panose="020B0604020202020204" pitchFamily="34" charset="0"/>
              </a:rPr>
              <a:t>del</a:t>
            </a:r>
            <a:r>
              <a:rPr sz="1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sitio.</a:t>
            </a: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70" dirty="0"/>
              <a:t> </a:t>
            </a:r>
            <a:r>
              <a:rPr spc="-10" dirty="0"/>
              <a:t>técnico</a:t>
            </a:r>
            <a:r>
              <a:rPr spc="-6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b="1" dirty="0">
                <a:latin typeface="Calibri"/>
                <a:cs typeface="Calibri"/>
              </a:rPr>
              <a:t>Requisitos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previos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1439" y="3139693"/>
            <a:ext cx="330898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Documento</a:t>
            </a:r>
            <a:r>
              <a:rPr sz="32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técnico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450" y="3139693"/>
            <a:ext cx="484886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FFFFFF"/>
                </a:solidFill>
              </a:rPr>
              <a:t>Definición</a:t>
            </a:r>
            <a:r>
              <a:rPr sz="3200" spc="-114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del</a:t>
            </a:r>
            <a:r>
              <a:rPr sz="3200" spc="-60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Requerimiento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9493" y="6490652"/>
            <a:ext cx="9461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7E7E7E"/>
                </a:solidFill>
                <a:latin typeface="Arial MT"/>
                <a:cs typeface="Arial MT"/>
              </a:rPr>
              <a:t>7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316167" y="286320"/>
            <a:ext cx="542290" cy="351790"/>
            <a:chOff x="11316167" y="286320"/>
            <a:chExt cx="542290" cy="3517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6167" y="319865"/>
              <a:ext cx="206360" cy="2464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47627" y="286320"/>
              <a:ext cx="310578" cy="351318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57187" y="823975"/>
            <a:ext cx="11520170" cy="0"/>
          </a:xfrm>
          <a:custGeom>
            <a:avLst/>
            <a:gdLst/>
            <a:ahLst/>
            <a:cxnLst/>
            <a:rect l="l" t="t" r="r" b="b"/>
            <a:pathLst>
              <a:path w="11520170">
                <a:moveTo>
                  <a:pt x="0" y="0"/>
                </a:moveTo>
                <a:lnTo>
                  <a:pt x="11519979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5800" y="1100648"/>
            <a:ext cx="8382000" cy="334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Helvetica" panose="020B0604020202020204" pitchFamily="34" charset="0"/>
                <a:cs typeface="Helvetica" panose="020B0604020202020204" pitchFamily="34" charset="0"/>
              </a:rPr>
              <a:t>ID</a:t>
            </a:r>
            <a:r>
              <a:rPr sz="1400" b="1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400" b="1" spc="-7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spc="-30" dirty="0" err="1">
                <a:latin typeface="Helvetica" panose="020B0604020202020204" pitchFamily="34" charset="0"/>
                <a:cs typeface="Helvetica" panose="020B0604020202020204" pitchFamily="34" charset="0"/>
              </a:rPr>
              <a:t>actividad</a:t>
            </a:r>
            <a:r>
              <a:rPr sz="1400" b="1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r>
              <a:rPr lang="es-CO" sz="1400" b="1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O"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XXXX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-30" dirty="0">
                <a:latin typeface="Helvetica" panose="020B0604020202020204" pitchFamily="34" charset="0"/>
                <a:cs typeface="Helvetica" panose="020B0604020202020204" pitchFamily="34" charset="0"/>
              </a:rPr>
              <a:t>Información</a:t>
            </a:r>
            <a:r>
              <a:rPr sz="1400" b="1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General</a:t>
            </a:r>
            <a:endParaRPr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553085" indent="-182245">
              <a:lnSpc>
                <a:spcPct val="100000"/>
              </a:lnSpc>
              <a:spcBef>
                <a:spcPts val="890"/>
              </a:spcBef>
              <a:buFont typeface="Microsoft Sans Serif"/>
              <a:buChar char="•"/>
              <a:tabLst>
                <a:tab pos="553085" algn="l"/>
              </a:tabLst>
            </a:pPr>
            <a:r>
              <a:rPr sz="1200" b="1" spc="-10" dirty="0" err="1">
                <a:latin typeface="Helvetica" panose="020B0604020202020204" pitchFamily="34" charset="0"/>
                <a:cs typeface="Helvetica" panose="020B0604020202020204" pitchFamily="34" charset="0"/>
              </a:rPr>
              <a:t>Solicitante</a:t>
            </a:r>
            <a:r>
              <a:rPr sz="12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r>
              <a:rPr lang="es-CO" sz="12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O"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XXXX</a:t>
            </a: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553085" indent="-182245">
              <a:lnSpc>
                <a:spcPct val="100000"/>
              </a:lnSpc>
              <a:spcBef>
                <a:spcPts val="885"/>
              </a:spcBef>
              <a:buFont typeface="Microsoft Sans Serif"/>
              <a:buChar char="•"/>
              <a:tabLst>
                <a:tab pos="553085" algn="l"/>
              </a:tabLst>
            </a:pPr>
            <a:r>
              <a:rPr sz="12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Área</a:t>
            </a:r>
            <a:r>
              <a:rPr sz="1200" b="1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b="1" spc="-25" dirty="0">
                <a:latin typeface="Helvetica" panose="020B0604020202020204" pitchFamily="34" charset="0"/>
                <a:cs typeface="Helvetica" panose="020B0604020202020204" pitchFamily="34" charset="0"/>
              </a:rPr>
              <a:t>Solicitante:</a:t>
            </a:r>
            <a:r>
              <a:rPr sz="1200" b="1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O" sz="1200" spc="-25" dirty="0">
                <a:latin typeface="Helvetica" panose="020B0604020202020204" pitchFamily="34" charset="0"/>
                <a:cs typeface="Helvetica" panose="020B0604020202020204" pitchFamily="34" charset="0"/>
              </a:rPr>
              <a:t>XXXX</a:t>
            </a:r>
          </a:p>
          <a:p>
            <a:pPr marL="370840">
              <a:lnSpc>
                <a:spcPct val="100000"/>
              </a:lnSpc>
              <a:spcBef>
                <a:spcPts val="885"/>
              </a:spcBef>
              <a:tabLst>
                <a:tab pos="553085" algn="l"/>
              </a:tabLst>
            </a:pPr>
            <a:endParaRPr lang="es-CO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lang="es-CO" sz="1400" b="1" spc="-25" dirty="0">
                <a:latin typeface="Helvetica" panose="020B0604020202020204" pitchFamily="34" charset="0"/>
                <a:cs typeface="Helvetica" panose="020B0604020202020204" pitchFamily="34" charset="0"/>
              </a:rPr>
              <a:t>Objetivo</a:t>
            </a:r>
            <a:r>
              <a:rPr lang="es-CO" sz="1400" b="1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O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lang="es-CO" sz="1400" b="1" spc="-8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O" sz="14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Descripción.</a:t>
            </a:r>
          </a:p>
          <a:p>
            <a:pPr marL="12700">
              <a:lnSpc>
                <a:spcPct val="150000"/>
              </a:lnSpc>
              <a:spcBef>
                <a:spcPts val="890"/>
              </a:spcBef>
            </a:pPr>
            <a:r>
              <a:rPr lang="es-CO"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Aquí va la descripción y objetivo del requerimiento de forma clara con las palabras del desarrollador sin alterar el alcance definido, pero dejando explicito el propósito y contexto del requerimiento.</a:t>
            </a:r>
          </a:p>
          <a:p>
            <a:pPr marL="12700">
              <a:lnSpc>
                <a:spcPct val="150000"/>
              </a:lnSpc>
              <a:spcBef>
                <a:spcPts val="890"/>
              </a:spcBef>
            </a:pPr>
            <a:r>
              <a:rPr lang="es-CO" sz="1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Preferiblemente en </a:t>
            </a:r>
            <a:r>
              <a:rPr lang="es-CO" sz="1200" spc="-10" dirty="0" err="1">
                <a:latin typeface="Helvetica" panose="020B0604020202020204" pitchFamily="34" charset="0"/>
                <a:cs typeface="Helvetica" panose="020B0604020202020204" pitchFamily="34" charset="0"/>
              </a:rPr>
              <a:t>bulets</a:t>
            </a:r>
            <a:endParaRPr lang="es-CO" sz="1200" spc="-1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2578" y="195897"/>
            <a:ext cx="828802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65" dirty="0"/>
              <a:t> </a:t>
            </a:r>
            <a:r>
              <a:rPr spc="-10" dirty="0"/>
              <a:t>técnico</a:t>
            </a:r>
            <a:r>
              <a:rPr spc="-6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b="1" dirty="0" err="1">
                <a:latin typeface="Calibri"/>
                <a:cs typeface="Calibri"/>
              </a:rPr>
              <a:t>Definición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lang="es-CO" b="1" spc="-20" dirty="0">
                <a:latin typeface="Calibri"/>
                <a:cs typeface="Calibri"/>
              </a:rPr>
              <a:t>técnica </a:t>
            </a:r>
            <a:r>
              <a:rPr b="1" dirty="0">
                <a:latin typeface="Calibri"/>
                <a:cs typeface="Calibri"/>
              </a:rPr>
              <a:t>del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lang="es-CO" b="1" spc="-10" dirty="0"/>
              <a:t>r</a:t>
            </a:r>
            <a:r>
              <a:rPr b="1" spc="-10" dirty="0" err="1">
                <a:latin typeface="Calibri"/>
                <a:cs typeface="Calibri"/>
              </a:rPr>
              <a:t>equerimiento</a:t>
            </a:r>
            <a:endParaRPr b="1" spc="-1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142875"/>
                </a:moveTo>
                <a:lnTo>
                  <a:pt x="9525" y="142875"/>
                </a:lnTo>
                <a:lnTo>
                  <a:pt x="9525" y="0"/>
                </a:lnTo>
                <a:lnTo>
                  <a:pt x="0" y="0"/>
                </a:lnTo>
                <a:lnTo>
                  <a:pt x="0" y="142875"/>
                </a:lnTo>
                <a:close/>
              </a:path>
            </a:pathLst>
          </a:custGeom>
          <a:solidFill>
            <a:srgbClr val="F8F8F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22058-FCFF-BE61-3540-40BA5D6C6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5607306-BCFF-15FE-9AFD-4A740794C7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578" y="195897"/>
            <a:ext cx="75164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65" dirty="0"/>
              <a:t> </a:t>
            </a:r>
            <a:r>
              <a:rPr spc="-10" dirty="0"/>
              <a:t>técnico</a:t>
            </a:r>
            <a:r>
              <a:rPr spc="-6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lang="es-CO" b="1" spc="-5" dirty="0"/>
              <a:t>Requerimiento original del solicitante </a:t>
            </a:r>
            <a:endParaRPr b="1" spc="-1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5F903A3-D5DC-2AAE-46B0-684A40B745F1}"/>
              </a:ext>
            </a:extLst>
          </p:cNvPr>
          <p:cNvSpPr/>
          <p:nvPr/>
        </p:nvSpPr>
        <p:spPr>
          <a:xfrm>
            <a:off x="0" y="8572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9525" y="0"/>
                </a:moveTo>
                <a:lnTo>
                  <a:pt x="0" y="0"/>
                </a:lnTo>
                <a:lnTo>
                  <a:pt x="0" y="285750"/>
                </a:lnTo>
                <a:lnTo>
                  <a:pt x="9525" y="285750"/>
                </a:lnTo>
                <a:lnTo>
                  <a:pt x="9525" y="0"/>
                </a:lnTo>
                <a:close/>
              </a:path>
            </a:pathLst>
          </a:custGeom>
          <a:solidFill>
            <a:srgbClr val="F9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22E1F2E-039E-D60A-B326-DADCFAFC963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5FD8621-1135-B7D4-9E08-6209EC0AFE91}"/>
              </a:ext>
            </a:extLst>
          </p:cNvPr>
          <p:cNvCxnSpPr>
            <a:cxnSpLocks/>
          </p:cNvCxnSpPr>
          <p:nvPr/>
        </p:nvCxnSpPr>
        <p:spPr>
          <a:xfrm>
            <a:off x="508613" y="981075"/>
            <a:ext cx="0" cy="2555875"/>
          </a:xfrm>
          <a:prstGeom prst="line">
            <a:avLst/>
          </a:prstGeom>
          <a:ln w="2857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3E99C65-6AFF-B71F-97BF-5A5BDA7A558E}"/>
              </a:ext>
            </a:extLst>
          </p:cNvPr>
          <p:cNvCxnSpPr>
            <a:cxnSpLocks/>
          </p:cNvCxnSpPr>
          <p:nvPr/>
        </p:nvCxnSpPr>
        <p:spPr>
          <a:xfrm>
            <a:off x="508613" y="3657600"/>
            <a:ext cx="0" cy="2555875"/>
          </a:xfrm>
          <a:prstGeom prst="line">
            <a:avLst/>
          </a:prstGeom>
          <a:ln w="2857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ángulo: esquinas superiores redondeadas 7">
            <a:extLst>
              <a:ext uri="{FF2B5EF4-FFF2-40B4-BE49-F238E27FC236}">
                <a16:creationId xmlns:a16="http://schemas.microsoft.com/office/drawing/2014/main" id="{CEC9E996-02F4-50F1-683E-CDE6F02DC3E7}"/>
              </a:ext>
            </a:extLst>
          </p:cNvPr>
          <p:cNvSpPr/>
          <p:nvPr/>
        </p:nvSpPr>
        <p:spPr>
          <a:xfrm rot="5400000">
            <a:off x="2388964" y="-773833"/>
            <a:ext cx="300636" cy="3966092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0000">
                <a:schemeClr val="bg2"/>
              </a:gs>
              <a:gs pos="100000">
                <a:schemeClr val="accent2"/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270" wrap="square" lIns="50800" tIns="50800" rIns="50800" bIns="50800" numCol="1" spcCol="38100" rtlCol="0"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Solicitud - Célula Adobe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F4DC6FA-C446-A09B-6722-A7A8B9ADD4E4}"/>
              </a:ext>
            </a:extLst>
          </p:cNvPr>
          <p:cNvSpPr txBox="1"/>
          <p:nvPr/>
        </p:nvSpPr>
        <p:spPr>
          <a:xfrm>
            <a:off x="616903" y="1187196"/>
            <a:ext cx="10805794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endParaRPr lang="es-ES" sz="1600" b="1" dirty="0"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  <a:p>
            <a:pPr algn="just"/>
            <a:r>
              <a:rPr lang="es-ES" sz="1600" b="1" dirty="0">
                <a:latin typeface="Red Hat Display "/>
              </a:rPr>
              <a:t>Declaración de Confirmación:</a:t>
            </a:r>
            <a:endParaRPr lang="es-ES" sz="1600" dirty="0">
              <a:latin typeface="Red Hat Display "/>
            </a:endParaRPr>
          </a:p>
          <a:p>
            <a:pPr algn="just">
              <a:lnSpc>
                <a:spcPct val="150000"/>
              </a:lnSpc>
            </a:pP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"He revisado exhaustivamente esta solicitud y confirmo que la información proporcionada es completa, precisa y refleja fielmente los objetivos y requisitos específicos. Entiendo que cualquier ajuste posterior conllevaría tiempos y recursos adicionales para su implementación."</a:t>
            </a:r>
          </a:p>
          <a:p>
            <a:pPr algn="just"/>
            <a:br>
              <a:rPr lang="es-ES" sz="1200" dirty="0"/>
            </a:br>
            <a:endParaRPr sz="1200" dirty="0">
              <a:latin typeface="Arial"/>
              <a:cs typeface="Arial"/>
            </a:endParaRPr>
          </a:p>
        </p:txBody>
      </p: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259E1C0A-998C-3768-5592-AA331435B005}"/>
              </a:ext>
            </a:extLst>
          </p:cNvPr>
          <p:cNvSpPr/>
          <p:nvPr/>
        </p:nvSpPr>
        <p:spPr>
          <a:xfrm rot="5400000">
            <a:off x="2388964" y="482427"/>
            <a:ext cx="300636" cy="3966092"/>
          </a:xfrm>
          <a:prstGeom prst="round2SameRect">
            <a:avLst>
              <a:gd name="adj1" fmla="val 43663"/>
              <a:gd name="adj2" fmla="val 0"/>
            </a:avLst>
          </a:prstGeom>
          <a:gradFill flip="none" rotWithShape="1">
            <a:gsLst>
              <a:gs pos="40000">
                <a:schemeClr val="bg2"/>
              </a:gs>
              <a:gs pos="100000">
                <a:schemeClr val="accent2"/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270" wrap="square" lIns="50800" tIns="50800" rIns="50800" bIns="50800" numCol="1" spcCol="38100" rtlCol="0"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Información general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D212803-A5DE-9D20-3F06-ADEBAC1C3111}"/>
              </a:ext>
            </a:extLst>
          </p:cNvPr>
          <p:cNvSpPr txBox="1"/>
          <p:nvPr/>
        </p:nvSpPr>
        <p:spPr>
          <a:xfrm>
            <a:off x="561338" y="2693646"/>
            <a:ext cx="703897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latin typeface="Red Hat Display "/>
              </a:rPr>
              <a:t>Detalles de la solicitud</a:t>
            </a:r>
          </a:p>
          <a:p>
            <a:endParaRPr lang="es-ES" sz="1600" b="1" dirty="0">
              <a:latin typeface="Red Hat Display "/>
            </a:endParaRPr>
          </a:p>
          <a:p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Nombre del solicitante: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 Valentina Ariza</a:t>
            </a:r>
          </a:p>
          <a:p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Área solicitante: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 Ventas</a:t>
            </a:r>
          </a:p>
          <a:p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Herramienta utilizada: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 Adobe Target</a:t>
            </a:r>
          </a:p>
        </p:txBody>
      </p:sp>
      <p:sp>
        <p:nvSpPr>
          <p:cNvPr id="15" name="Rectángulo: esquinas superiores redondeadas 14">
            <a:extLst>
              <a:ext uri="{FF2B5EF4-FFF2-40B4-BE49-F238E27FC236}">
                <a16:creationId xmlns:a16="http://schemas.microsoft.com/office/drawing/2014/main" id="{CF6E541A-803E-9ADB-5EC6-6B62D1D90BC9}"/>
              </a:ext>
            </a:extLst>
          </p:cNvPr>
          <p:cNvSpPr/>
          <p:nvPr/>
        </p:nvSpPr>
        <p:spPr>
          <a:xfrm rot="5400000">
            <a:off x="2388964" y="2561430"/>
            <a:ext cx="300636" cy="3966092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0000">
                <a:schemeClr val="bg2"/>
              </a:gs>
              <a:gs pos="100000">
                <a:schemeClr val="accent2"/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270" wrap="square" lIns="50800" tIns="50800" rIns="50800" bIns="50800" numCol="1" spcCol="38100" rtlCol="0"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Objetivo y descripción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A8598BE-FF7C-E8F1-D5D8-900008B36EC5}"/>
              </a:ext>
            </a:extLst>
          </p:cNvPr>
          <p:cNvSpPr txBox="1"/>
          <p:nvPr/>
        </p:nvSpPr>
        <p:spPr>
          <a:xfrm>
            <a:off x="556235" y="4770323"/>
            <a:ext cx="11082929" cy="144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Optimizar el comportamiento del filtro Business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Class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mediante el almacenamiento en caché de la información de las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cards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que contienen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bundles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Business o Insignia tras la activación del filtro, con el fin de evitar recargas completas de la página y reducir significativamente los tiempos de carga al activarlo, especialmente en escenarios con alta cantidad de frecuencias.</a:t>
            </a:r>
          </a:p>
          <a:p>
            <a:pPr algn="just">
              <a:lnSpc>
                <a:spcPct val="150000"/>
              </a:lnSpc>
            </a:pPr>
            <a:endParaRPr lang="es-ES" sz="1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Flujo: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Booking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Flow -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Flyr</a:t>
            </a: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709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2578" y="195897"/>
            <a:ext cx="75164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65" dirty="0"/>
              <a:t> </a:t>
            </a:r>
            <a:r>
              <a:rPr spc="-10" dirty="0"/>
              <a:t>técnico</a:t>
            </a:r>
            <a:r>
              <a:rPr spc="-6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lang="es-CO" b="1" spc="-5" dirty="0"/>
              <a:t>Requerimiento original del solicitante </a:t>
            </a:r>
            <a:endParaRPr b="1" spc="-1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8572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9525" y="0"/>
                </a:moveTo>
                <a:lnTo>
                  <a:pt x="0" y="0"/>
                </a:lnTo>
                <a:lnTo>
                  <a:pt x="0" y="285750"/>
                </a:lnTo>
                <a:lnTo>
                  <a:pt x="9525" y="285750"/>
                </a:lnTo>
                <a:lnTo>
                  <a:pt x="9525" y="0"/>
                </a:lnTo>
                <a:close/>
              </a:path>
            </a:pathLst>
          </a:custGeom>
          <a:solidFill>
            <a:srgbClr val="F9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A972356-ACD5-6B26-E228-E2704ED5CE1B}"/>
              </a:ext>
            </a:extLst>
          </p:cNvPr>
          <p:cNvCxnSpPr>
            <a:cxnSpLocks/>
          </p:cNvCxnSpPr>
          <p:nvPr/>
        </p:nvCxnSpPr>
        <p:spPr>
          <a:xfrm>
            <a:off x="508613" y="981075"/>
            <a:ext cx="0" cy="2555875"/>
          </a:xfrm>
          <a:prstGeom prst="line">
            <a:avLst/>
          </a:prstGeom>
          <a:ln w="2857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B766D67-58B6-E2C0-7181-AE7FDC1D5DBA}"/>
              </a:ext>
            </a:extLst>
          </p:cNvPr>
          <p:cNvCxnSpPr>
            <a:cxnSpLocks/>
          </p:cNvCxnSpPr>
          <p:nvPr/>
        </p:nvCxnSpPr>
        <p:spPr>
          <a:xfrm>
            <a:off x="508613" y="3657600"/>
            <a:ext cx="0" cy="2555875"/>
          </a:xfrm>
          <a:prstGeom prst="line">
            <a:avLst/>
          </a:prstGeom>
          <a:ln w="2857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ángulo: esquinas superiores redondeadas 7">
            <a:extLst>
              <a:ext uri="{FF2B5EF4-FFF2-40B4-BE49-F238E27FC236}">
                <a16:creationId xmlns:a16="http://schemas.microsoft.com/office/drawing/2014/main" id="{32175D4A-1292-1183-5CF3-6DD5E34BCC51}"/>
              </a:ext>
            </a:extLst>
          </p:cNvPr>
          <p:cNvSpPr/>
          <p:nvPr/>
        </p:nvSpPr>
        <p:spPr>
          <a:xfrm rot="5400000">
            <a:off x="2388964" y="-773833"/>
            <a:ext cx="300636" cy="3966092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0000">
                <a:schemeClr val="bg2"/>
              </a:gs>
              <a:gs pos="100000">
                <a:schemeClr val="accent2"/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270" wrap="square" lIns="50800" tIns="50800" rIns="50800" bIns="50800" numCol="1" spcCol="38100" rtlCol="0"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Diseño </a:t>
            </a:r>
            <a:r>
              <a:rPr lang="es-ES" b="1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y funcionalidad</a:t>
            </a:r>
            <a:endParaRPr lang="es-ES" b="1" dirty="0">
              <a:solidFill>
                <a:schemeClr val="bg1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DC2FAE9D-87D5-6C73-3FCD-2FC31E1268A0}"/>
              </a:ext>
            </a:extLst>
          </p:cNvPr>
          <p:cNvSpPr txBox="1"/>
          <p:nvPr/>
        </p:nvSpPr>
        <p:spPr>
          <a:xfrm>
            <a:off x="616903" y="1187196"/>
            <a:ext cx="10805794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endParaRPr lang="es-ES" sz="1200" b="1" dirty="0">
              <a:latin typeface="Helvetica" panose="020B0604020202020204" pitchFamily="34" charset="0"/>
              <a:ea typeface="Red Hat Display" panose="020B0604020202020204" charset="0"/>
              <a:cs typeface="Helvetica" panose="020B0604020202020204" pitchFamily="34" charset="0"/>
            </a:endParaRPr>
          </a:p>
          <a:p>
            <a:endParaRPr lang="es-ES" sz="1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Descripción de diseño: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 No aplica</a:t>
            </a:r>
          </a:p>
          <a:p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Soportes: 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No responde</a:t>
            </a:r>
          </a:p>
          <a:p>
            <a:pPr algn="just"/>
            <a:b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A6F62F3F-0FAF-95F8-8030-DF9124FEA8FC}"/>
              </a:ext>
            </a:extLst>
          </p:cNvPr>
          <p:cNvSpPr/>
          <p:nvPr/>
        </p:nvSpPr>
        <p:spPr>
          <a:xfrm rot="5400000">
            <a:off x="2388964" y="482427"/>
            <a:ext cx="300636" cy="3966092"/>
          </a:xfrm>
          <a:prstGeom prst="round2SameRect">
            <a:avLst>
              <a:gd name="adj1" fmla="val 43663"/>
              <a:gd name="adj2" fmla="val 0"/>
            </a:avLst>
          </a:prstGeom>
          <a:gradFill flip="none" rotWithShape="1">
            <a:gsLst>
              <a:gs pos="40000">
                <a:schemeClr val="bg2"/>
              </a:gs>
              <a:gs pos="100000">
                <a:schemeClr val="accent2"/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270" wrap="square" lIns="50800" tIns="50800" rIns="50800" bIns="50800" numCol="1" spcCol="38100" rtlCol="0"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Descripción funcional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5531ED3-3D7D-30B7-AC0E-050959CEE6DA}"/>
              </a:ext>
            </a:extLst>
          </p:cNvPr>
          <p:cNvSpPr txBox="1"/>
          <p:nvPr/>
        </p:nvSpPr>
        <p:spPr>
          <a:xfrm>
            <a:off x="588328" y="2667000"/>
            <a:ext cx="10667997" cy="3659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Con base en la última versión “1199818 | DCD | Modal de abandono | NS V.14”, se requiere actualizar el modal de abandono (sin </a:t>
            </a:r>
            <a:r>
              <a:rPr lang="es-CO" sz="12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promocode</a:t>
            </a: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) mediante la incorporación del componente de cierre “X”, conforme a las especificaciones visuales definidas en el </a:t>
            </a:r>
            <a:r>
              <a:rPr lang="es-CO" sz="12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Figma</a:t>
            </a: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adjunto.</a:t>
            </a:r>
            <a:br>
              <a:rPr lang="es-CO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CO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CO" sz="1200" b="1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Comportamiento esperado: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La “X” debe visualizarse según el diseño aprobado (posición, estilo y jerarquía visual).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Al hacer clic en la “X”, el modal debe cerrarse inmediatamente.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El cierre mediante la “X” debe mantener al usuario en la misma página en la que se encontraba al momento de la activación del modal (</a:t>
            </a:r>
            <a:r>
              <a:rPr lang="es-CO" sz="12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availability</a:t>
            </a: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, pasajeros, servicios y </a:t>
            </a:r>
            <a:r>
              <a:rPr lang="es-CO" sz="12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seatmap</a:t>
            </a: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El cierre no debe generar redirección, recarga de página ni alteración del estado actual del flujo.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Esta funcionalidad no debe afectar la experiencia actual de </a:t>
            </a:r>
            <a:r>
              <a:rPr lang="es-CO" sz="12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exit</a:t>
            </a: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O" sz="12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intent</a:t>
            </a: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La activación del modal de </a:t>
            </a:r>
            <a:r>
              <a:rPr lang="es-CO" sz="12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promocode</a:t>
            </a: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debe producirse únicamente tras el clic en el CTA “Salir” del modal de abandono.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En ningún caso debe activarse el modal </a:t>
            </a:r>
            <a:r>
              <a:rPr lang="es-CO" sz="12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promocode</a:t>
            </a: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tras el clic en la “X”.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2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La implementación no debe impactar la lógica existente del flujo de compra ni otros comportamientos asociados al modal.</a:t>
            </a:r>
            <a:endParaRPr lang="es-CO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9313B-1E1B-2B8A-DDB9-995A7CBB5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70F93D0-4EA2-1642-EBB9-9676FDDB73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578" y="195897"/>
            <a:ext cx="75164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65" dirty="0"/>
              <a:t> </a:t>
            </a:r>
            <a:r>
              <a:rPr spc="-10" dirty="0"/>
              <a:t>técnico</a:t>
            </a:r>
            <a:r>
              <a:rPr spc="-6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lang="es-CO" b="1" spc="-5" dirty="0"/>
              <a:t>Requerimiento original del solicitante </a:t>
            </a:r>
            <a:endParaRPr b="1" spc="-1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B81026C-A4B8-7ADD-7AC4-E26939A84750}"/>
              </a:ext>
            </a:extLst>
          </p:cNvPr>
          <p:cNvSpPr/>
          <p:nvPr/>
        </p:nvSpPr>
        <p:spPr>
          <a:xfrm>
            <a:off x="0" y="8572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9525" y="0"/>
                </a:moveTo>
                <a:lnTo>
                  <a:pt x="0" y="0"/>
                </a:lnTo>
                <a:lnTo>
                  <a:pt x="0" y="285750"/>
                </a:lnTo>
                <a:lnTo>
                  <a:pt x="9525" y="285750"/>
                </a:lnTo>
                <a:lnTo>
                  <a:pt x="9525" y="0"/>
                </a:lnTo>
                <a:close/>
              </a:path>
            </a:pathLst>
          </a:custGeom>
          <a:solidFill>
            <a:srgbClr val="F9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E5BAE83-E2AC-F1D3-1061-E3A79AF6093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14</a:t>
            </a:fld>
            <a:endParaRPr spc="-50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74AD4CD-C959-C6E3-2615-0DEE70C9FF3A}"/>
              </a:ext>
            </a:extLst>
          </p:cNvPr>
          <p:cNvCxnSpPr>
            <a:cxnSpLocks/>
          </p:cNvCxnSpPr>
          <p:nvPr/>
        </p:nvCxnSpPr>
        <p:spPr>
          <a:xfrm>
            <a:off x="508613" y="981075"/>
            <a:ext cx="0" cy="2555875"/>
          </a:xfrm>
          <a:prstGeom prst="line">
            <a:avLst/>
          </a:prstGeom>
          <a:ln w="2857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DC850FA-A31B-041F-CD00-932401AAD2A5}"/>
              </a:ext>
            </a:extLst>
          </p:cNvPr>
          <p:cNvCxnSpPr>
            <a:cxnSpLocks/>
          </p:cNvCxnSpPr>
          <p:nvPr/>
        </p:nvCxnSpPr>
        <p:spPr>
          <a:xfrm>
            <a:off x="508613" y="3657600"/>
            <a:ext cx="0" cy="2555875"/>
          </a:xfrm>
          <a:prstGeom prst="line">
            <a:avLst/>
          </a:prstGeom>
          <a:ln w="2857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ángulo: esquinas superiores redondeadas 7">
            <a:extLst>
              <a:ext uri="{FF2B5EF4-FFF2-40B4-BE49-F238E27FC236}">
                <a16:creationId xmlns:a16="http://schemas.microsoft.com/office/drawing/2014/main" id="{EC620F99-F33E-BB61-46D0-3E6A5974CE3F}"/>
              </a:ext>
            </a:extLst>
          </p:cNvPr>
          <p:cNvSpPr/>
          <p:nvPr/>
        </p:nvSpPr>
        <p:spPr>
          <a:xfrm rot="5400000">
            <a:off x="2388964" y="-773833"/>
            <a:ext cx="300636" cy="3966092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0000">
                <a:schemeClr val="bg2"/>
              </a:gs>
              <a:gs pos="100000">
                <a:schemeClr val="accent2"/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270" wrap="square" lIns="50800" tIns="50800" rIns="50800" bIns="50800" numCol="1" spcCol="38100" rtlCol="0"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Criterios de aceptación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F9AFE948-2C18-534B-91CB-A366682D1F52}"/>
              </a:ext>
            </a:extLst>
          </p:cNvPr>
          <p:cNvSpPr txBox="1"/>
          <p:nvPr/>
        </p:nvSpPr>
        <p:spPr>
          <a:xfrm>
            <a:off x="616903" y="1340481"/>
            <a:ext cx="10805794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s-ES" sz="1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s-ES" sz="1200" dirty="0"/>
              <a:t>Al activar el filtro Business </a:t>
            </a:r>
            <a:r>
              <a:rPr lang="es-ES" sz="1200" dirty="0" err="1"/>
              <a:t>Class</a:t>
            </a:r>
            <a:r>
              <a:rPr lang="es-ES" sz="1200" dirty="0"/>
              <a:t> por primera vez, la información de las </a:t>
            </a:r>
            <a:r>
              <a:rPr lang="es-ES" sz="1200" dirty="0" err="1"/>
              <a:t>cards</a:t>
            </a:r>
            <a:r>
              <a:rPr lang="es-ES" sz="1200" dirty="0"/>
              <a:t> con </a:t>
            </a:r>
            <a:r>
              <a:rPr lang="es-ES" sz="1200" dirty="0" err="1"/>
              <a:t>bundles</a:t>
            </a:r>
            <a:r>
              <a:rPr lang="es-ES" sz="1200" dirty="0"/>
              <a:t> Business o Insignia debe almacenarse en caché.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s-ES" sz="1200" dirty="0"/>
              <a:t>En activaciones posteriores del filtro durante la misma sesión, no debe realizarse una recarga completa de la página. 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s-ES" sz="1200" dirty="0"/>
              <a:t>El tiempo de respuesta del filtro debe reducirse significativamente respecto al comportamiento actual. 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s-ES" sz="1200" dirty="0"/>
              <a:t>La información mostrada debe mantenerse consistente con los datos de disponibilidad vigentes. 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s-ES" sz="1200" dirty="0"/>
              <a:t>No debe afectarse el funcionamiento de otros filtros ni la lógica general de </a:t>
            </a:r>
            <a:r>
              <a:rPr lang="es-ES" sz="1200" dirty="0" err="1"/>
              <a:t>availability</a:t>
            </a:r>
            <a:r>
              <a:rPr lang="es-ES" sz="1200" dirty="0"/>
              <a:t>.</a:t>
            </a:r>
          </a:p>
          <a:p>
            <a:pPr algn="just"/>
            <a:b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0EA0D6D6-6650-7148-5E99-4C90769E9147}"/>
              </a:ext>
            </a:extLst>
          </p:cNvPr>
          <p:cNvSpPr/>
          <p:nvPr/>
        </p:nvSpPr>
        <p:spPr>
          <a:xfrm rot="5400000">
            <a:off x="2388964" y="1911836"/>
            <a:ext cx="300636" cy="3966092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0000">
                <a:schemeClr val="bg2"/>
              </a:gs>
              <a:gs pos="100000">
                <a:schemeClr val="accent2"/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270" wrap="square" lIns="50800" tIns="50800" rIns="50800" bIns="50800" numCol="1" spcCol="38100" rtlCol="0"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Especificaciones técnicas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401A2B-946C-3F87-C898-D94105A249DD}"/>
              </a:ext>
            </a:extLst>
          </p:cNvPr>
          <p:cNvSpPr txBox="1"/>
          <p:nvPr/>
        </p:nvSpPr>
        <p:spPr>
          <a:xfrm>
            <a:off x="508613" y="4045200"/>
            <a:ext cx="7806709" cy="1720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Dispositivos: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 ["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Desktop","Responsive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"]</a:t>
            </a:r>
          </a:p>
          <a:p>
            <a:pPr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Criterios de analítica: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 Mantener la medición del modal de abandono y modal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promocode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de la última versión</a:t>
            </a:r>
          </a:p>
          <a:p>
            <a:pPr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Textos y traducciones</a:t>
            </a:r>
          </a:p>
          <a:p>
            <a:pPr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Idiomas a desarrollar: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Español, Inglés, Portugués, Francés</a:t>
            </a:r>
          </a:p>
          <a:p>
            <a:pPr>
              <a:lnSpc>
                <a:spcPct val="150000"/>
              </a:lnSpc>
            </a:pP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098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B82F-C056-8679-4E84-D9B3F85D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E2BFDCB-2D56-0922-672F-D3BB81BAC8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578" y="195897"/>
            <a:ext cx="75164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65" dirty="0"/>
              <a:t> </a:t>
            </a:r>
            <a:r>
              <a:rPr spc="-10" dirty="0"/>
              <a:t>técnico</a:t>
            </a:r>
            <a:r>
              <a:rPr spc="-6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lang="es-CO" b="1" spc="-5" dirty="0"/>
              <a:t>Requerimiento original del solicitante </a:t>
            </a:r>
            <a:endParaRPr b="1" spc="-1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65D7A65-5A53-5081-7FD8-A8518ADE51FF}"/>
              </a:ext>
            </a:extLst>
          </p:cNvPr>
          <p:cNvSpPr/>
          <p:nvPr/>
        </p:nvSpPr>
        <p:spPr>
          <a:xfrm>
            <a:off x="0" y="8572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9525" y="0"/>
                </a:moveTo>
                <a:lnTo>
                  <a:pt x="0" y="0"/>
                </a:lnTo>
                <a:lnTo>
                  <a:pt x="0" y="285750"/>
                </a:lnTo>
                <a:lnTo>
                  <a:pt x="9525" y="285750"/>
                </a:lnTo>
                <a:lnTo>
                  <a:pt x="9525" y="0"/>
                </a:lnTo>
                <a:close/>
              </a:path>
            </a:pathLst>
          </a:custGeom>
          <a:solidFill>
            <a:srgbClr val="F9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D5D6B68-4589-A78A-9B9A-DB2D4640D7B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15</a:t>
            </a:fld>
            <a:endParaRPr spc="-50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08CF993-6059-C13E-0E48-CC6AE7A32001}"/>
              </a:ext>
            </a:extLst>
          </p:cNvPr>
          <p:cNvCxnSpPr>
            <a:cxnSpLocks/>
          </p:cNvCxnSpPr>
          <p:nvPr/>
        </p:nvCxnSpPr>
        <p:spPr>
          <a:xfrm>
            <a:off x="508613" y="981075"/>
            <a:ext cx="0" cy="2555875"/>
          </a:xfrm>
          <a:prstGeom prst="line">
            <a:avLst/>
          </a:prstGeom>
          <a:ln w="2857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F5ADF2A-EAE8-D852-77E1-3F09733E2E80}"/>
              </a:ext>
            </a:extLst>
          </p:cNvPr>
          <p:cNvCxnSpPr>
            <a:cxnSpLocks/>
          </p:cNvCxnSpPr>
          <p:nvPr/>
        </p:nvCxnSpPr>
        <p:spPr>
          <a:xfrm>
            <a:off x="508613" y="3657600"/>
            <a:ext cx="0" cy="2555875"/>
          </a:xfrm>
          <a:prstGeom prst="line">
            <a:avLst/>
          </a:prstGeom>
          <a:ln w="2857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ángulo: esquinas superiores redondeadas 7">
            <a:extLst>
              <a:ext uri="{FF2B5EF4-FFF2-40B4-BE49-F238E27FC236}">
                <a16:creationId xmlns:a16="http://schemas.microsoft.com/office/drawing/2014/main" id="{1701EA29-9B0E-EE2C-C612-9BEB6B1ADAF9}"/>
              </a:ext>
            </a:extLst>
          </p:cNvPr>
          <p:cNvSpPr/>
          <p:nvPr/>
        </p:nvSpPr>
        <p:spPr>
          <a:xfrm rot="5400000">
            <a:off x="2388964" y="-773833"/>
            <a:ext cx="300636" cy="3966092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0000">
                <a:schemeClr val="bg2"/>
              </a:gs>
              <a:gs pos="100000">
                <a:schemeClr val="accent2"/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270" wrap="square" lIns="50800" tIns="50800" rIns="50800" bIns="50800" numCol="1" spcCol="38100" rtlCol="0"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Traducciones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F1246045-CA1F-39FA-EDF4-4D29CB3E7C0B}"/>
              </a:ext>
            </a:extLst>
          </p:cNvPr>
          <p:cNvSpPr txBox="1"/>
          <p:nvPr/>
        </p:nvSpPr>
        <p:spPr>
          <a:xfrm>
            <a:off x="616903" y="1209213"/>
            <a:ext cx="10805794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s-ES" sz="1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Español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No se solicitan ajustes de textos, mantener los actuales</a:t>
            </a:r>
          </a:p>
          <a:p>
            <a:pPr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Inglés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No se solicitan ajustes de textos, mantener los actuales</a:t>
            </a:r>
          </a:p>
          <a:p>
            <a:pPr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Portugués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No se solicitan ajustes de textos, mantener los actuales</a:t>
            </a:r>
          </a:p>
          <a:p>
            <a:pPr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Francés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No se solicitan ajustes de textos, mantener los actuales</a:t>
            </a:r>
          </a:p>
          <a:p>
            <a:pPr algn="just"/>
            <a:b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5F789630-8879-11D2-A3A2-0C6D8729DC14}"/>
              </a:ext>
            </a:extLst>
          </p:cNvPr>
          <p:cNvSpPr/>
          <p:nvPr/>
        </p:nvSpPr>
        <p:spPr>
          <a:xfrm rot="5400000">
            <a:off x="2388964" y="1858662"/>
            <a:ext cx="300636" cy="3966092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0000">
                <a:schemeClr val="bg2"/>
              </a:gs>
              <a:gs pos="100000">
                <a:schemeClr val="accent2"/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270" wrap="square" lIns="50800" tIns="50800" rIns="50800" bIns="50800" numCol="1" spcCol="38100" rtlCol="0"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Soportes de solicitud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36A2BD2-0BEF-F0F8-7617-D0A39FE4587E}"/>
              </a:ext>
            </a:extLst>
          </p:cNvPr>
          <p:cNvSpPr txBox="1"/>
          <p:nvPr/>
        </p:nvSpPr>
        <p:spPr>
          <a:xfrm>
            <a:off x="556236" y="4040109"/>
            <a:ext cx="6096000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Solicitud registrada el: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 2/12/2026 9:17:52 PM</a:t>
            </a:r>
          </a:p>
          <a:p>
            <a:pPr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Email del solicitante: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 laura.ariza@avianca.com</a:t>
            </a:r>
          </a:p>
          <a:p>
            <a:pPr>
              <a:lnSpc>
                <a:spcPct val="150000"/>
              </a:lnSpc>
            </a:pPr>
            <a:r>
              <a:rPr lang="es-E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Aprobaciones</a:t>
            </a: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Gerencia Ventas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Ecommerce</a:t>
            </a: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2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64568" y="6490652"/>
            <a:ext cx="15875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solidFill>
                  <a:srgbClr val="7E7E7E"/>
                </a:solidFill>
                <a:latin typeface="Arial MT"/>
                <a:cs typeface="Arial MT"/>
              </a:rPr>
              <a:t>15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316167" y="286320"/>
            <a:ext cx="542290" cy="351790"/>
            <a:chOff x="11316167" y="286320"/>
            <a:chExt cx="542290" cy="35179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6167" y="319865"/>
              <a:ext cx="206360" cy="2464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47627" y="286320"/>
              <a:ext cx="310578" cy="351318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57187" y="823975"/>
            <a:ext cx="11520170" cy="0"/>
          </a:xfrm>
          <a:custGeom>
            <a:avLst/>
            <a:gdLst/>
            <a:ahLst/>
            <a:cxnLst/>
            <a:rect l="l" t="t" r="r" b="b"/>
            <a:pathLst>
              <a:path w="11520170">
                <a:moveTo>
                  <a:pt x="0" y="0"/>
                </a:moveTo>
                <a:lnTo>
                  <a:pt x="11519979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8236" y="1057278"/>
            <a:ext cx="2514600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CO" b="1" spc="-25" dirty="0">
                <a:latin typeface="Red Hat Display "/>
                <a:cs typeface="Arial"/>
              </a:rPr>
              <a:t>Aplicabilidad</a:t>
            </a:r>
            <a:endParaRPr dirty="0">
              <a:latin typeface="Red Hat Display 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65" dirty="0"/>
              <a:t> </a:t>
            </a:r>
            <a:r>
              <a:rPr spc="-10" dirty="0"/>
              <a:t>técnico</a:t>
            </a:r>
            <a:r>
              <a:rPr spc="-6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b="1" dirty="0">
                <a:latin typeface="Calibri"/>
                <a:cs typeface="Calibri"/>
              </a:rPr>
              <a:t>Definición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del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Requerimiento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48400" y="1057277"/>
            <a:ext cx="2362200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CO" b="1" spc="-20" dirty="0">
                <a:latin typeface="Red Hat Display "/>
                <a:cs typeface="Arial"/>
              </a:rPr>
              <a:t>Referencias visuales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14" name="Imagen 13" descr="Interfaz de usuario gráfica, Texto, Sitio web&#10;&#10;El contenido generado por IA puede ser incorrecto.">
            <a:extLst>
              <a:ext uri="{FF2B5EF4-FFF2-40B4-BE49-F238E27FC236}">
                <a16:creationId xmlns:a16="http://schemas.microsoft.com/office/drawing/2014/main" id="{4EFE5E73-0F6D-0E03-D11D-8E46B6D6A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372" y="1981320"/>
            <a:ext cx="5307196" cy="2743200"/>
          </a:xfrm>
          <a:prstGeom prst="rect">
            <a:avLst/>
          </a:prstGeom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A06BE793-8C2A-DF7E-711C-28A1554F180D}"/>
              </a:ext>
            </a:extLst>
          </p:cNvPr>
          <p:cNvSpPr txBox="1"/>
          <p:nvPr/>
        </p:nvSpPr>
        <p:spPr>
          <a:xfrm>
            <a:off x="588236" y="1548676"/>
            <a:ext cx="4267200" cy="3608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" sz="1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POS: 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XXX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Rutas: 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XXX</a:t>
            </a:r>
            <a:endParaRPr lang="es-ES" sz="1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Dispositivos: 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“Desktop” “Mobile”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Idiomas: 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ES – EN – PT – FN</a:t>
            </a:r>
            <a:r>
              <a:rPr lang="es-ES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Página: 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“Home”, “Ofertas”, “Disponibilidad”, “Pasajeros”, “Servicios”, “Mapa de asientos”, “Pagos”, “Confirmación”</a:t>
            </a:r>
            <a:r>
              <a:rPr lang="es-ES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Flujo: 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“Amadeus”, “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Flyr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”, “MMB”, “SSCI”</a:t>
            </a:r>
            <a:endParaRPr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1439" y="3139693"/>
            <a:ext cx="330898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Documento</a:t>
            </a:r>
            <a:r>
              <a:rPr sz="32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técnico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450" y="3139693"/>
            <a:ext cx="429704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rgbClr val="FFFFFF"/>
                </a:solidFill>
              </a:rPr>
              <a:t>Resultados</a:t>
            </a:r>
            <a:r>
              <a:rPr sz="3200" spc="-65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de</a:t>
            </a:r>
            <a:r>
              <a:rPr sz="3200" spc="-4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las</a:t>
            </a:r>
            <a:r>
              <a:rPr sz="3200" spc="-65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pruebas</a:t>
            </a:r>
            <a:endParaRPr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65" dirty="0"/>
              <a:t> </a:t>
            </a:r>
            <a:r>
              <a:rPr spc="-10" dirty="0"/>
              <a:t>técnico</a:t>
            </a:r>
            <a:r>
              <a:rPr spc="-60" dirty="0"/>
              <a:t> </a:t>
            </a:r>
            <a:r>
              <a:rPr dirty="0"/>
              <a:t>| </a:t>
            </a:r>
            <a:r>
              <a:rPr b="1" dirty="0">
                <a:latin typeface="Calibri"/>
                <a:cs typeface="Calibri"/>
              </a:rPr>
              <a:t>Script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pruebas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40" dirty="0">
                <a:latin typeface="Calibri"/>
                <a:cs typeface="Calibri"/>
              </a:rPr>
              <a:t>(Test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Scripts)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BBDBE26-78D5-05A6-6DC8-87DE6992F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967988"/>
              </p:ext>
            </p:extLst>
          </p:nvPr>
        </p:nvGraphicFramePr>
        <p:xfrm>
          <a:off x="435608" y="1295400"/>
          <a:ext cx="11258169" cy="44634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83592">
                  <a:extLst>
                    <a:ext uri="{9D8B030D-6E8A-4147-A177-3AD203B41FA5}">
                      <a16:colId xmlns:a16="http://schemas.microsoft.com/office/drawing/2014/main" val="30751273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161371"/>
                    </a:ext>
                  </a:extLst>
                </a:gridCol>
                <a:gridCol w="1100135">
                  <a:extLst>
                    <a:ext uri="{9D8B030D-6E8A-4147-A177-3AD203B41FA5}">
                      <a16:colId xmlns:a16="http://schemas.microsoft.com/office/drawing/2014/main" val="20721362"/>
                    </a:ext>
                  </a:extLst>
                </a:gridCol>
                <a:gridCol w="929131">
                  <a:extLst>
                    <a:ext uri="{9D8B030D-6E8A-4147-A177-3AD203B41FA5}">
                      <a16:colId xmlns:a16="http://schemas.microsoft.com/office/drawing/2014/main" val="3668136990"/>
                    </a:ext>
                  </a:extLst>
                </a:gridCol>
                <a:gridCol w="929131">
                  <a:extLst>
                    <a:ext uri="{9D8B030D-6E8A-4147-A177-3AD203B41FA5}">
                      <a16:colId xmlns:a16="http://schemas.microsoft.com/office/drawing/2014/main" val="2214324306"/>
                    </a:ext>
                  </a:extLst>
                </a:gridCol>
                <a:gridCol w="2521926">
                  <a:extLst>
                    <a:ext uri="{9D8B030D-6E8A-4147-A177-3AD203B41FA5}">
                      <a16:colId xmlns:a16="http://schemas.microsoft.com/office/drawing/2014/main" val="2371763148"/>
                    </a:ext>
                  </a:extLst>
                </a:gridCol>
                <a:gridCol w="3644123">
                  <a:extLst>
                    <a:ext uri="{9D8B030D-6E8A-4147-A177-3AD203B41FA5}">
                      <a16:colId xmlns:a16="http://schemas.microsoft.com/office/drawing/2014/main" val="1599864750"/>
                    </a:ext>
                  </a:extLst>
                </a:gridCol>
                <a:gridCol w="892931">
                  <a:extLst>
                    <a:ext uri="{9D8B030D-6E8A-4147-A177-3AD203B41FA5}">
                      <a16:colId xmlns:a16="http://schemas.microsoft.com/office/drawing/2014/main" val="1418487426"/>
                    </a:ext>
                  </a:extLst>
                </a:gridCol>
              </a:tblGrid>
              <a:tr h="5115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effectLst/>
                          <a:latin typeface="Red Hat Display "/>
                        </a:rPr>
                        <a:t>HU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effectLst/>
                          <a:latin typeface="Red Hat Display "/>
                        </a:rPr>
                        <a:t>ID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dirty="0">
                          <a:solidFill>
                            <a:srgbClr val="FFFFFF"/>
                          </a:solidFill>
                          <a:effectLst/>
                          <a:latin typeface="Red Hat Display "/>
                        </a:rPr>
                        <a:t>Caso de Prueba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effectLst/>
                          <a:latin typeface="Red Hat Display "/>
                        </a:rPr>
                        <a:t>Estado de Ejecución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effectLst/>
                          <a:latin typeface="Red Hat Display "/>
                        </a:rPr>
                        <a:t>Asignado a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effectLst/>
                          <a:latin typeface="Red Hat Display "/>
                        </a:rPr>
                        <a:t>Objetivo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effectLst/>
                          <a:latin typeface="Red Hat Display "/>
                        </a:rPr>
                        <a:t>Procedimiento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dirty="0">
                          <a:solidFill>
                            <a:srgbClr val="FFFFFF"/>
                          </a:solidFill>
                          <a:effectLst/>
                          <a:latin typeface="Red Hat Display "/>
                        </a:rPr>
                        <a:t>Observaciones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197350"/>
                  </a:ext>
                </a:extLst>
              </a:tr>
              <a:tr h="8580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>
                        <a:solidFill>
                          <a:srgbClr val="0061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159456"/>
                  </a:ext>
                </a:extLst>
              </a:tr>
              <a:tr h="8580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>
                        <a:solidFill>
                          <a:srgbClr val="0061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261678"/>
                  </a:ext>
                </a:extLst>
              </a:tr>
              <a:tr h="11178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>
                        <a:solidFill>
                          <a:srgbClr val="0061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594516"/>
                  </a:ext>
                </a:extLst>
              </a:tr>
              <a:tr h="11178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>
                        <a:solidFill>
                          <a:srgbClr val="0061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120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s-ES" sz="1200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2082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3555" y="960056"/>
            <a:ext cx="62103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latin typeface="Arial"/>
                <a:cs typeface="Arial"/>
              </a:rPr>
              <a:t>CP</a:t>
            </a:r>
            <a:r>
              <a:rPr sz="1400" b="1" spc="-20" dirty="0">
                <a:latin typeface="Arial"/>
                <a:cs typeface="Arial"/>
              </a:rPr>
              <a:t>01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65" dirty="0"/>
              <a:t> </a:t>
            </a:r>
            <a:r>
              <a:rPr spc="-10" dirty="0"/>
              <a:t>técnico</a:t>
            </a:r>
            <a:r>
              <a:rPr spc="-60" dirty="0"/>
              <a:t> </a:t>
            </a:r>
            <a:r>
              <a:rPr dirty="0"/>
              <a:t>| </a:t>
            </a:r>
            <a:r>
              <a:rPr b="1" dirty="0">
                <a:latin typeface="Calibri"/>
                <a:cs typeface="Calibri"/>
              </a:rPr>
              <a:t>Script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pruebas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40" dirty="0">
                <a:latin typeface="Calibri"/>
                <a:cs typeface="Calibri"/>
              </a:rPr>
              <a:t>(Test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Scripts)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8" name="Imagen 7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DF796DE9-29BC-723A-F737-936D6AEDB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929" y="1207698"/>
            <a:ext cx="9010143" cy="50608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919" y="960056"/>
            <a:ext cx="62103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latin typeface="Arial"/>
                <a:cs typeface="Arial"/>
              </a:rPr>
              <a:t>CP</a:t>
            </a:r>
            <a:r>
              <a:rPr lang="es-CO" sz="1400" b="1" spc="-10" dirty="0">
                <a:latin typeface="Arial"/>
                <a:cs typeface="Arial"/>
              </a:rPr>
              <a:t>0</a:t>
            </a:r>
            <a:r>
              <a:rPr sz="1400" b="1" spc="-20" dirty="0">
                <a:latin typeface="Arial"/>
                <a:cs typeface="Arial"/>
              </a:rPr>
              <a:t>2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65" dirty="0"/>
              <a:t> </a:t>
            </a:r>
            <a:r>
              <a:rPr spc="-10" dirty="0"/>
              <a:t>técnico</a:t>
            </a:r>
            <a:r>
              <a:rPr spc="-60" dirty="0"/>
              <a:t> </a:t>
            </a:r>
            <a:r>
              <a:rPr dirty="0"/>
              <a:t>| </a:t>
            </a:r>
            <a:r>
              <a:rPr b="1" dirty="0">
                <a:latin typeface="Calibri"/>
                <a:cs typeface="Calibri"/>
              </a:rPr>
              <a:t>Script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pruebas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40" dirty="0">
                <a:latin typeface="Calibri"/>
                <a:cs typeface="Calibri"/>
              </a:rPr>
              <a:t>(Test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Scripts)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pic>
        <p:nvPicPr>
          <p:cNvPr id="8" name="Imagen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923BDAC-B85B-DE0D-05F1-0C9430941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207371"/>
            <a:ext cx="9144001" cy="51380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1439" y="3139693"/>
            <a:ext cx="330898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Documento</a:t>
            </a:r>
            <a:r>
              <a:rPr sz="32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técnico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450" y="3139693"/>
            <a:ext cx="429450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FFFFFF"/>
                </a:solidFill>
              </a:rPr>
              <a:t>Captura</a:t>
            </a:r>
            <a:r>
              <a:rPr sz="3200" spc="-9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del</a:t>
            </a:r>
            <a:r>
              <a:rPr sz="3200" spc="-10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código</a:t>
            </a:r>
            <a:r>
              <a:rPr sz="3200" spc="-150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fuente</a:t>
            </a:r>
            <a:endParaRPr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579" y="1122679"/>
            <a:ext cx="10708640" cy="145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9230" algn="l"/>
              </a:tabLst>
            </a:pPr>
            <a:r>
              <a:rPr sz="1600" b="1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Acceso</a:t>
            </a:r>
            <a:r>
              <a:rPr sz="1600" b="1" spc="-40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</a:t>
            </a:r>
            <a:r>
              <a:rPr sz="1600" b="1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a</a:t>
            </a:r>
            <a:r>
              <a:rPr sz="1600" b="1" spc="20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</a:t>
            </a:r>
            <a:r>
              <a:rPr sz="1600" b="1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la</a:t>
            </a:r>
            <a:r>
              <a:rPr sz="1600" b="1" spc="-45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</a:t>
            </a:r>
            <a:r>
              <a:rPr sz="1600" b="1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Plataforma</a:t>
            </a:r>
            <a:r>
              <a:rPr sz="1600" b="1" spc="-50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</a:t>
            </a:r>
            <a:r>
              <a:rPr sz="1600" b="1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de</a:t>
            </a:r>
            <a:r>
              <a:rPr sz="1600" b="1" spc="-45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</a:t>
            </a:r>
            <a:r>
              <a:rPr sz="1600" b="1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Adobe</a:t>
            </a:r>
            <a:r>
              <a:rPr sz="1600" b="1" spc="-50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</a:t>
            </a:r>
            <a:r>
              <a:rPr sz="1600" b="1" spc="-10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Target</a:t>
            </a:r>
            <a:endParaRPr sz="1600" dirty="0"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Arial MT"/>
              <a:buChar char="•"/>
            </a:pPr>
            <a:endParaRPr sz="1200" dirty="0">
              <a:latin typeface="Arial"/>
              <a:cs typeface="Arial"/>
            </a:endParaRPr>
          </a:p>
          <a:p>
            <a:pPr marL="646430" lvl="1" indent="-176530">
              <a:lnSpc>
                <a:spcPct val="100000"/>
              </a:lnSpc>
              <a:buChar char="•"/>
              <a:tabLst>
                <a:tab pos="646430" algn="l"/>
              </a:tabLst>
            </a:pP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Para</a:t>
            </a:r>
            <a:r>
              <a:rPr sz="1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visualización</a:t>
            </a:r>
            <a:r>
              <a:rPr sz="1400" spc="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del</a:t>
            </a:r>
            <a:r>
              <a:rPr sz="1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código</a:t>
            </a:r>
            <a:r>
              <a:rPr sz="1400" spc="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seguimiento</a:t>
            </a:r>
            <a:r>
              <a:rPr sz="1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del</a:t>
            </a:r>
            <a:r>
              <a:rPr sz="1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proyecto, se</a:t>
            </a:r>
            <a:r>
              <a:rPr sz="1400" spc="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requieren</a:t>
            </a:r>
            <a:r>
              <a:rPr sz="1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accesos</a:t>
            </a:r>
            <a:r>
              <a:rPr sz="1400" spc="3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spc="-10" dirty="0">
                <a:latin typeface="Helvetica" panose="020B0604020202020204" pitchFamily="34" charset="0"/>
                <a:cs typeface="Helvetica" panose="020B0604020202020204" pitchFamily="34" charset="0"/>
              </a:rPr>
              <a:t>plataforma.</a:t>
            </a:r>
            <a:endParaRPr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45795" marR="5080" lvl="1" indent="-175895">
              <a:lnSpc>
                <a:spcPct val="146000"/>
              </a:lnSpc>
              <a:spcBef>
                <a:spcPts val="1280"/>
              </a:spcBef>
              <a:buChar char="•"/>
              <a:tabLst>
                <a:tab pos="645795" algn="l"/>
              </a:tabLst>
            </a:pP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Los</a:t>
            </a:r>
            <a:r>
              <a:rPr sz="1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permisos</a:t>
            </a:r>
            <a:r>
              <a:rPr sz="1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necesarios</a:t>
            </a:r>
            <a:r>
              <a:rPr sz="14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se</a:t>
            </a:r>
            <a:r>
              <a:rPr sz="1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otorgan</a:t>
            </a:r>
            <a:r>
              <a:rPr sz="1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en</a:t>
            </a:r>
            <a:r>
              <a:rPr sz="1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roles</a:t>
            </a:r>
            <a:r>
              <a:rPr sz="14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visualización</a:t>
            </a:r>
            <a:r>
              <a:rPr sz="1400" b="1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400" b="1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edición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  <a:r>
              <a:rPr sz="1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permitiendo</a:t>
            </a:r>
            <a:r>
              <a:rPr sz="1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revisión</a:t>
            </a:r>
            <a:r>
              <a:rPr sz="1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detallada</a:t>
            </a:r>
            <a:r>
              <a:rPr sz="1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configuración</a:t>
            </a:r>
            <a:r>
              <a:rPr sz="1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los</a:t>
            </a:r>
            <a:r>
              <a:rPr sz="14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resultados</a:t>
            </a:r>
            <a:r>
              <a:rPr sz="1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spc="-25" dirty="0">
                <a:latin typeface="Helvetica" panose="020B0604020202020204" pitchFamily="34" charset="0"/>
                <a:cs typeface="Helvetica" panose="020B0604020202020204" pitchFamily="34" charset="0"/>
              </a:rPr>
              <a:t>las </a:t>
            </a:r>
            <a:r>
              <a:rPr sz="1400" spc="-10" dirty="0">
                <a:latin typeface="Helvetica" panose="020B0604020202020204" pitchFamily="34" charset="0"/>
                <a:cs typeface="Helvetica" panose="020B0604020202020204" pitchFamily="34" charset="0"/>
              </a:rPr>
              <a:t>actividades.</a:t>
            </a:r>
            <a:endParaRPr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64568" y="6502382"/>
            <a:ext cx="158750" cy="16383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950" spc="-25" dirty="0">
                <a:solidFill>
                  <a:srgbClr val="7E7E7E"/>
                </a:solidFill>
                <a:latin typeface="Arial MT"/>
                <a:cs typeface="Arial MT"/>
              </a:rPr>
              <a:t>21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579" y="2934398"/>
            <a:ext cx="10649585" cy="157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9230" algn="l"/>
              </a:tabLst>
            </a:pPr>
            <a:r>
              <a:rPr sz="1600" b="1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Ubicación</a:t>
            </a:r>
            <a:r>
              <a:rPr sz="1600" b="1" spc="-60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</a:t>
            </a:r>
            <a:r>
              <a:rPr sz="1600" b="1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del</a:t>
            </a:r>
            <a:r>
              <a:rPr sz="1600" b="1" spc="-35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</a:t>
            </a:r>
            <a:r>
              <a:rPr sz="1600" b="1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Código</a:t>
            </a:r>
            <a:r>
              <a:rPr sz="1600" b="1" spc="10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</a:t>
            </a:r>
            <a:r>
              <a:rPr sz="1600" b="1" spc="-10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Fuente</a:t>
            </a:r>
            <a:endParaRPr sz="1600" dirty="0"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  <a:p>
            <a:pPr>
              <a:lnSpc>
                <a:spcPct val="100000"/>
              </a:lnSpc>
              <a:spcBef>
                <a:spcPts val="860"/>
              </a:spcBef>
              <a:buFont typeface="Arial MT"/>
              <a:buChar char="•"/>
            </a:pPr>
            <a:endParaRPr sz="1200" dirty="0">
              <a:latin typeface="Arial"/>
              <a:cs typeface="Arial"/>
            </a:endParaRPr>
          </a:p>
          <a:p>
            <a:pPr marL="646430" lvl="1" indent="-176530">
              <a:lnSpc>
                <a:spcPct val="100000"/>
              </a:lnSpc>
              <a:spcBef>
                <a:spcPts val="5"/>
              </a:spcBef>
              <a:buChar char="•"/>
              <a:tabLst>
                <a:tab pos="646430" algn="l"/>
              </a:tabLst>
            </a:pP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código</a:t>
            </a:r>
            <a:r>
              <a:rPr sz="1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actividad</a:t>
            </a:r>
            <a:r>
              <a:rPr sz="1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se</a:t>
            </a:r>
            <a:r>
              <a:rPr sz="1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spc="-10" dirty="0">
                <a:latin typeface="Helvetica" panose="020B0604020202020204" pitchFamily="34" charset="0"/>
                <a:cs typeface="Helvetica" panose="020B0604020202020204" pitchFamily="34" charset="0"/>
              </a:rPr>
              <a:t>encuentra</a:t>
            </a:r>
            <a:r>
              <a:rPr sz="1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alojado</a:t>
            </a:r>
            <a:r>
              <a:rPr sz="1400" b="1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en</a:t>
            </a:r>
            <a:r>
              <a:rPr sz="1400" b="1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el</a:t>
            </a:r>
            <a:r>
              <a:rPr sz="1400" b="1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repositorio</a:t>
            </a:r>
            <a:r>
              <a:rPr sz="1400" b="1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400" b="1" spc="-10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Adobe</a:t>
            </a:r>
            <a:r>
              <a:rPr sz="1400" b="1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Target</a:t>
            </a:r>
            <a:r>
              <a:rPr sz="1400" spc="-10" dirty="0"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  <a:r>
              <a:rPr sz="1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garantizando</a:t>
            </a:r>
            <a:r>
              <a:rPr sz="1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centralización</a:t>
            </a:r>
            <a:r>
              <a:rPr sz="1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control</a:t>
            </a:r>
            <a:r>
              <a:rPr sz="1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versiones</a:t>
            </a:r>
            <a:r>
              <a:rPr sz="1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del</a:t>
            </a:r>
            <a:r>
              <a:rPr sz="1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spc="-10" dirty="0">
                <a:latin typeface="Helvetica" panose="020B0604020202020204" pitchFamily="34" charset="0"/>
                <a:cs typeface="Helvetica" panose="020B0604020202020204" pitchFamily="34" charset="0"/>
              </a:rPr>
              <a:t>mismo.</a:t>
            </a:r>
            <a:endParaRPr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46430" lvl="1" indent="-176530">
              <a:lnSpc>
                <a:spcPct val="100000"/>
              </a:lnSpc>
              <a:spcBef>
                <a:spcPts val="5"/>
              </a:spcBef>
              <a:buChar char="•"/>
              <a:tabLst>
                <a:tab pos="646430" algn="l"/>
              </a:tabLst>
            </a:pP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Se</a:t>
            </a:r>
            <a:r>
              <a:rPr sz="1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proporciona</a:t>
            </a:r>
            <a:r>
              <a:rPr sz="1400" spc="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un</a:t>
            </a:r>
            <a:r>
              <a:rPr sz="14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enlace</a:t>
            </a:r>
            <a:r>
              <a:rPr sz="1400" b="1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directo</a:t>
            </a:r>
            <a:r>
              <a:rPr sz="1400" b="1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al</a:t>
            </a:r>
            <a:r>
              <a:rPr sz="1400" b="1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código</a:t>
            </a:r>
            <a:r>
              <a:rPr sz="1400" b="1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sz="1400" b="1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400" b="1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actividad</a:t>
            </a:r>
            <a:r>
              <a:rPr sz="1400" b="1" spc="-8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para</a:t>
            </a:r>
            <a:r>
              <a:rPr sz="1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facilitar</a:t>
            </a:r>
            <a:r>
              <a:rPr sz="14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sz="1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revisión</a:t>
            </a:r>
            <a:r>
              <a:rPr sz="1400" spc="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dirty="0">
                <a:latin typeface="Helvetica" panose="020B0604020202020204" pitchFamily="34" charset="0"/>
                <a:cs typeface="Helvetica" panose="020B0604020202020204" pitchFamily="34" charset="0"/>
              </a:rPr>
              <a:t>auditoría</a:t>
            </a:r>
            <a:r>
              <a:rPr sz="1400" spc="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spc="-10" dirty="0">
                <a:latin typeface="Helvetica" panose="020B0604020202020204" pitchFamily="34" charset="0"/>
                <a:cs typeface="Helvetica" panose="020B0604020202020204" pitchFamily="34" charset="0"/>
              </a:rPr>
              <a:t>técnica.</a:t>
            </a:r>
            <a:endParaRPr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Documento</a:t>
            </a:r>
            <a:r>
              <a:rPr spc="-50" dirty="0"/>
              <a:t> </a:t>
            </a:r>
            <a:r>
              <a:rPr spc="-10" dirty="0"/>
              <a:t>técnico</a:t>
            </a:r>
            <a:r>
              <a:rPr spc="-5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b="1" dirty="0">
                <a:latin typeface="Calibri"/>
                <a:cs typeface="Calibri"/>
              </a:rPr>
              <a:t>Código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fuente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89020" y="5105400"/>
            <a:ext cx="501396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sz="1800" b="1" u="sng" dirty="0"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Link de la actividad traído desde Target</a:t>
            </a:r>
            <a:endParaRPr sz="1800" b="1" u="sng" dirty="0"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1400" y="2590800"/>
              <a:ext cx="4591050" cy="13049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vianca">
      <a:dk1>
        <a:srgbClr val="000000"/>
      </a:dk1>
      <a:lt1>
        <a:srgbClr val="FFFFFF"/>
      </a:lt1>
      <a:dk2>
        <a:srgbClr val="7F7F7F"/>
      </a:dk2>
      <a:lt2>
        <a:srgbClr val="FF0000"/>
      </a:lt2>
      <a:accent1>
        <a:srgbClr val="89D4E1"/>
      </a:accent1>
      <a:accent2>
        <a:srgbClr val="B50080"/>
      </a:accent2>
      <a:accent3>
        <a:srgbClr val="FF3093"/>
      </a:accent3>
      <a:accent4>
        <a:srgbClr val="F98013"/>
      </a:accent4>
      <a:accent5>
        <a:srgbClr val="1D9BF0"/>
      </a:accent5>
      <a:accent6>
        <a:srgbClr val="23C847"/>
      </a:accent6>
      <a:hlink>
        <a:srgbClr val="0070C0"/>
      </a:hlink>
      <a:folHlink>
        <a:srgbClr val="B5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095ecea-2d80-4438-b187-500ba7651319}" enabled="1" method="Standard" siteId="{a2addd3e-8397-4579-ba30-7a38803fc3b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1717</TotalTime>
  <Words>1867</Words>
  <Application>Microsoft Office PowerPoint</Application>
  <PresentationFormat>Panorámica</PresentationFormat>
  <Paragraphs>218</Paragraphs>
  <Slides>23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4" baseType="lpstr">
      <vt:lpstr>Aptos</vt:lpstr>
      <vt:lpstr>Arial</vt:lpstr>
      <vt:lpstr>Arial MT</vt:lpstr>
      <vt:lpstr>Calibri</vt:lpstr>
      <vt:lpstr>Helvetica</vt:lpstr>
      <vt:lpstr>Helvetica Neue</vt:lpstr>
      <vt:lpstr>Lato</vt:lpstr>
      <vt:lpstr>Microsoft Sans Serif</vt:lpstr>
      <vt:lpstr>Red Hat Display</vt:lpstr>
      <vt:lpstr>Red Hat Display </vt:lpstr>
      <vt:lpstr>Office Theme</vt:lpstr>
      <vt:lpstr>Presentación de PowerPoint</vt:lpstr>
      <vt:lpstr>Presentación de PowerPoint</vt:lpstr>
      <vt:lpstr>Célula Evolutivos</vt:lpstr>
      <vt:lpstr>Célula Evolutivos</vt:lpstr>
      <vt:lpstr>Documento técnico | Índice de Contenidos</vt:lpstr>
      <vt:lpstr>Requisitos previos</vt:lpstr>
      <vt:lpstr>Presentación de PowerPoint</vt:lpstr>
      <vt:lpstr>Documento técnico | Requisitos previos</vt:lpstr>
      <vt:lpstr>Documento técnico | Requisitos previos</vt:lpstr>
      <vt:lpstr>Definición del Requerimiento</vt:lpstr>
      <vt:lpstr>Documento técnico | Definición técnica del requerimiento</vt:lpstr>
      <vt:lpstr>Documento técnico | Requerimiento original del solicitante </vt:lpstr>
      <vt:lpstr>Documento técnico | Requerimiento original del solicitante </vt:lpstr>
      <vt:lpstr>Documento técnico | Requerimiento original del solicitante </vt:lpstr>
      <vt:lpstr>Documento técnico | Requerimiento original del solicitante </vt:lpstr>
      <vt:lpstr>Documento técnico | Definición del Requerimiento</vt:lpstr>
      <vt:lpstr>Resultados de las pruebas</vt:lpstr>
      <vt:lpstr>Documento técnico | Script de pruebas (Test Scripts)</vt:lpstr>
      <vt:lpstr>Documento técnico | Script de pruebas (Test Scripts)</vt:lpstr>
      <vt:lpstr>Documento técnico | Script de pruebas (Test Scripts)</vt:lpstr>
      <vt:lpstr>Captura del código fuente</vt:lpstr>
      <vt:lpstr>Documento técnico | Código fuente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Maribel  Alvear Gomez</cp:lastModifiedBy>
  <cp:revision>23</cp:revision>
  <dcterms:created xsi:type="dcterms:W3CDTF">2026-02-24T14:11:58Z</dcterms:created>
  <dcterms:modified xsi:type="dcterms:W3CDTF">2026-03-10T21:35:35Z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2026-02-20T00:00:00Z</vt:filetime>
  </property>
  <property fmtid="{D5CDD505-2E9C-101B-9397-08002B2CF9AE}" pid="3" name="LastSaved">
    <vt:filetime>2026-02-24T00:00:00Z</vt:filetime>
  </property>
  <property fmtid="{D5CDD505-2E9C-101B-9397-08002B2CF9AE}" pid="4" name="MSIP_Label_0095ecea-2d80-4438-b187-500ba7651319_Enabled">
    <vt:lpwstr>true</vt:lpwstr>
  </property>
  <property fmtid="{D5CDD505-2E9C-101B-9397-08002B2CF9AE}" pid="5" name="MSIP_Label_0095ecea-2d80-4438-b187-500ba7651319_Method">
    <vt:lpwstr>Standard</vt:lpwstr>
  </property>
  <property fmtid="{D5CDD505-2E9C-101B-9397-08002B2CF9AE}" pid="6" name="MSIP_Label_0095ecea-2d80-4438-b187-500ba7651319_SiteId">
    <vt:lpwstr>a2addd3e-8397-4579-ba30-7a38803fc3bf</vt:lpwstr>
  </property>
  <property fmtid="{D5CDD505-2E9C-101B-9397-08002B2CF9AE}" pid="7" name="MSIP_Label_6b227fc4-0160-4f97-9aff-69e015a65ad2_ActionId">
    <vt:lpwstr>148a903a-2865-4311-825b-3aff9a33e32a</vt:lpwstr>
  </property>
  <property fmtid="{D5CDD505-2E9C-101B-9397-08002B2CF9AE}" pid="8" name="MSIP_Label_6b227fc4-0160-4f97-9aff-69e015a65ad2_ContentBits">
    <vt:lpwstr>0</vt:lpwstr>
  </property>
  <property fmtid="{D5CDD505-2E9C-101B-9397-08002B2CF9AE}" pid="9" name="MSIP_Label_6b227fc4-0160-4f97-9aff-69e015a65ad2_Enabled">
    <vt:lpwstr>true</vt:lpwstr>
  </property>
  <property fmtid="{D5CDD505-2E9C-101B-9397-08002B2CF9AE}" pid="10" name="MSIP_Label_6b227fc4-0160-4f97-9aff-69e015a65ad2_Method">
    <vt:lpwstr>Standard</vt:lpwstr>
  </property>
  <property fmtid="{D5CDD505-2E9C-101B-9397-08002B2CF9AE}" pid="11" name="MSIP_Label_6b227fc4-0160-4f97-9aff-69e015a65ad2_Name">
    <vt:lpwstr>Confidential-No Encryption</vt:lpwstr>
  </property>
  <property fmtid="{D5CDD505-2E9C-101B-9397-08002B2CF9AE}" pid="12" name="MSIP_Label_6b227fc4-0160-4f97-9aff-69e015a65ad2_SetDate">
    <vt:lpwstr>2026-01-30T15:44:50Z</vt:lpwstr>
  </property>
  <property fmtid="{D5CDD505-2E9C-101B-9397-08002B2CF9AE}" pid="13" name="MSIP_Label_6b227fc4-0160-4f97-9aff-69e015a65ad2_SiteId">
    <vt:lpwstr>599e51d6-2f8c-4347-8e59-1f795a51a98c</vt:lpwstr>
  </property>
  <property fmtid="{D5CDD505-2E9C-101B-9397-08002B2CF9AE}" pid="14" name="MSIP_Label_6b227fc4-0160-4f97-9aff-69e015a65ad2_Tag">
    <vt:lpwstr>10, 3, 0, 2</vt:lpwstr>
  </property>
</Properties>
</file>